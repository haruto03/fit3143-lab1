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 total. Task 1 about 1 min, Task 2 about 3 min, Task 3 about 2 min, conclusion about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about 30 seconds. The sqrt cutoff and the odd-divisor skip are the two optimisations measured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 line: algorithmic optimisation bought three orders of magnitude; parallelisation buys five times. Optimise before you parallelise.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design decision of Task 2. Spend about 45 seconds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break-even crossing, then at the peak above the four-core reference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staircase is not noise. The next slide shows what causes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our first implementation used contiguous blocks, we measured the imbalance, then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run first suggested guided was 9.7% faster. Repeating it five times made the difference vanish. Mention this if asked about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slide 5: OpenMP pays a larger fixed start-up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'would you recommend OpenMP'. Performance is a tie; the difference is development effort and start-up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standard Q&amp;A question. Give reasons 1 and 2 at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last line. It is the single sentence worth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slides follow: methodology and the AI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brackets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Text 0"/>
          <p:cNvSpPr/>
          <p:nvPr/>
        </p:nvSpPr>
        <p:spPr>
          <a:xfrm>
            <a:off x="548640" y="1874520"/>
            <a:ext cx="1106424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Finding Prime Numbers in Parallel</a:t>
            </a:r>
            <a:endParaRPr lang="en-US" sz="4400" dirty="0"/>
          </a:p>
        </p:txBody>
      </p:sp>
      <p:sp>
        <p:nvSpPr>
          <p:cNvPr id="3" name="Text 1"/>
          <p:cNvSpPr/>
          <p:nvPr/>
        </p:nvSpPr>
        <p:spPr>
          <a:xfrm>
            <a:off x="548640" y="2788920"/>
            <a:ext cx="11064240" cy="457200"/>
          </a:xfrm>
          <a:prstGeom prst="rect">
            <a:avLst/>
          </a:prstGeom>
          <a:noFill/>
          <a:ln/>
        </p:spPr>
        <p:txBody>
          <a:bodyPr wrap="square" lIns="0" tIns="0" rIns="0" bIns="0" rtlCol="0" anchor="ctr"/>
          <a:lstStyle/>
          <a:p>
            <a:pPr indent="0" marL="0">
              <a:buNone/>
            </a:pPr>
            <a:r>
              <a:rPr lang="en-US" sz="1900" dirty="0">
                <a:solidFill>
                  <a:srgbClr val="EB6834"/>
                </a:solidFill>
                <a:latin typeface="Calibri" pitchFamily="34" charset="0"/>
                <a:ea typeface="Calibri" pitchFamily="34" charset="-122"/>
                <a:cs typeface="Calibri" pitchFamily="34" charset="-120"/>
              </a:rPr>
              <a:t>FIT3143 Lab #1  ·  POSIX Threads and OpenMP</a:t>
            </a:r>
            <a:endParaRPr lang="en-US" sz="1900" dirty="0"/>
          </a:p>
        </p:txBody>
      </p:sp>
      <p:sp>
        <p:nvSpPr>
          <p:cNvPr id="4" name="Shape 2"/>
          <p:cNvSpPr/>
          <p:nvPr/>
        </p:nvSpPr>
        <p:spPr>
          <a:xfrm>
            <a:off x="548640" y="3520440"/>
            <a:ext cx="2926080" cy="0"/>
          </a:xfrm>
          <a:prstGeom prst="line">
            <a:avLst/>
          </a:prstGeom>
          <a:noFill/>
          <a:ln w="12700">
            <a:solidFill>
              <a:srgbClr val="46545C"/>
            </a:solidFill>
            <a:prstDash val="solid"/>
          </a:ln>
        </p:spPr>
      </p:sp>
      <p:sp>
        <p:nvSpPr>
          <p:cNvPr id="5" name="Text 3"/>
          <p:cNvSpPr/>
          <p:nvPr/>
        </p:nvSpPr>
        <p:spPr>
          <a:xfrm>
            <a:off x="548640" y="3794760"/>
            <a:ext cx="6858000" cy="822960"/>
          </a:xfrm>
          <a:prstGeom prst="rect">
            <a:avLst/>
          </a:prstGeom>
          <a:noFill/>
          <a:ln/>
        </p:spPr>
        <p:txBody>
          <a:bodyPr wrap="square" lIns="0" tIns="0" rIns="0" bIns="0" rtlCol="0" anchor="ctr"/>
          <a:lstStyle/>
          <a:p>
            <a:pPr indent="0" marL="0">
              <a:lnSpc>
                <a:spcPts val="2400"/>
              </a:lnSpc>
              <a:buNone/>
            </a:pPr>
            <a:r>
              <a:rPr lang="en-US" sz="1400" dirty="0">
                <a:solidFill>
                  <a:srgbClr val="C6CDD1"/>
                </a:solidFill>
                <a:latin typeface="Calibri" pitchFamily="34" charset="0"/>
                <a:ea typeface="Calibri" pitchFamily="34" charset="-122"/>
                <a:cs typeface="Calibri" pitchFamily="34" charset="-120"/>
              </a:rPr>
              <a:t>[Student 1 name]  ·  [ID]  ·  [name@student.monash.edu]</a:t>
            </a:r>
            <a:endParaRPr lang="en-US" sz="1400" dirty="0"/>
          </a:p>
          <a:p>
            <a:pPr indent="0" marL="0">
              <a:lnSpc>
                <a:spcPts val="2400"/>
              </a:lnSpc>
              <a:buNone/>
            </a:pPr>
            <a:r>
              <a:rPr lang="en-US" sz="1400" dirty="0">
                <a:solidFill>
                  <a:srgbClr val="C6CDD1"/>
                </a:solidFill>
                <a:latin typeface="Calibri" pitchFamily="34" charset="0"/>
                <a:ea typeface="Calibri" pitchFamily="34" charset="-122"/>
                <a:cs typeface="Calibri" pitchFamily="34" charset="-120"/>
              </a:rPr>
              <a:t>[Student 2 name]  ·  [ID]  ·  [name@student.monash.edu]</a:t>
            </a:r>
            <a:endParaRPr lang="en-US" sz="1400" dirty="0"/>
          </a:p>
        </p:txBody>
      </p:sp>
      <p:sp>
        <p:nvSpPr>
          <p:cNvPr id="6" name="Text 4"/>
          <p:cNvSpPr/>
          <p:nvPr/>
        </p:nvSpPr>
        <p:spPr>
          <a:xfrm>
            <a:off x="548640" y="5943600"/>
            <a:ext cx="11064240" cy="365760"/>
          </a:xfrm>
          <a:prstGeom prst="rect">
            <a:avLst/>
          </a:prstGeom>
          <a:noFill/>
          <a:ln/>
        </p:spPr>
        <p:txBody>
          <a:bodyPr wrap="square" lIns="0" tIns="0" rIns="0" bIns="0" rtlCol="0" anchor="ctr"/>
          <a:lstStyle/>
          <a:p>
            <a:pPr indent="0" marL="0">
              <a:buNone/>
            </a:pPr>
            <a:r>
              <a:rPr lang="en-US" sz="1100" dirty="0">
                <a:solidFill>
                  <a:srgbClr val="8A9299"/>
                </a:solidFill>
                <a:latin typeface="Calibri" pitchFamily="34" charset="0"/>
                <a:ea typeface="Calibri" pitchFamily="34" charset="-122"/>
                <a:cs typeface="Calibri" pitchFamily="34" charset="-120"/>
              </a:rPr>
              <a:t>All measurements: AMD Ryzen 5 7535HS  ·  4 physical cores / 8 logical (SMT)  ·  Docker, GCC -O2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Serial implementation</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task1.c  ·  the baseline every speed-up is measured against</a:t>
            </a:r>
            <a:endParaRPr lang="en-US" sz="1300" dirty="0"/>
          </a:p>
        </p:txBody>
      </p:sp>
      <p:sp>
        <p:nvSpPr>
          <p:cNvPr id="6" name="Text 4"/>
          <p:cNvSpPr/>
          <p:nvPr/>
        </p:nvSpPr>
        <p:spPr>
          <a:xfrm>
            <a:off x="548640" y="1371600"/>
            <a:ext cx="5577840" cy="3566160"/>
          </a:xfrm>
          <a:prstGeom prst="rect">
            <a:avLst/>
          </a:prstGeom>
          <a:noFill/>
          <a:ln/>
        </p:spPr>
        <p:txBody>
          <a:bodyPr wrap="square" lIns="0" tIns="0" rIns="0" bIns="0" rtlCol="0" anchor="ctr"/>
          <a:lstStyle/>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Trial division, but stop at √k — if k = m×n with m &gt; √k then n &lt; √k, so a composite always has a factor at or below √k</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Reject even k up front, then test only odd divisors — halves the division count again</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Buffer sized from the prime number theorem (1.2n / ln n) and grown with realloc, instead of the 8n bytes a worst-case allocation would reserve</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Primes are found in ascending order of k, so the list is sorted by construction — no sorting step</a:t>
            </a:r>
            <a:endParaRPr lang="en-US" sz="1400" dirty="0"/>
          </a:p>
        </p:txBody>
      </p:sp>
      <p:sp>
        <p:nvSpPr>
          <p:cNvPr id="7" name="Shape 5"/>
          <p:cNvSpPr/>
          <p:nvPr/>
        </p:nvSpPr>
        <p:spPr>
          <a:xfrm>
            <a:off x="6400800" y="1371600"/>
            <a:ext cx="5212080" cy="3291840"/>
          </a:xfrm>
          <a:prstGeom prst="roundRect">
            <a:avLst>
              <a:gd name="adj" fmla="val 1667"/>
            </a:avLst>
          </a:prstGeom>
          <a:solidFill>
            <a:srgbClr val="1F2A30"/>
          </a:solidFill>
          <a:ln w="12700">
            <a:solidFill>
              <a:srgbClr val="1F2A30"/>
            </a:solidFill>
            <a:prstDash val="solid"/>
          </a:ln>
        </p:spPr>
      </p:sp>
      <p:sp>
        <p:nvSpPr>
          <p:cNvPr id="8" name="Text 6"/>
          <p:cNvSpPr/>
          <p:nvPr/>
        </p:nvSpPr>
        <p:spPr>
          <a:xfrm>
            <a:off x="6583680" y="1572768"/>
            <a:ext cx="4846320" cy="2926080"/>
          </a:xfrm>
          <a:prstGeom prst="rect">
            <a:avLst/>
          </a:prstGeom>
          <a:noFill/>
          <a:ln/>
        </p:spPr>
        <p:txBody>
          <a:bodyPr wrap="square" lIns="0" tIns="0" rIns="0" bIns="0" rtlCol="0" anchor="ctr"/>
          <a:lstStyle/>
          <a:p>
            <a:pPr indent="0" marL="0">
              <a:lnSpc>
                <a:spcPts val="1900"/>
              </a:lnSpc>
              <a:buNone/>
            </a:pPr>
            <a:r>
              <a:rPr lang="en-US" sz="1100" dirty="0">
                <a:solidFill>
                  <a:srgbClr val="1BAF7A"/>
                </a:solidFill>
                <a:latin typeface="Consolas" pitchFamily="34" charset="0"/>
                <a:ea typeface="Consolas" pitchFamily="34" charset="-122"/>
                <a:cs typeface="Consolas" pitchFamily="34" charset="-120"/>
              </a:rPr>
              <a:t>$ ./task1 30</a:t>
            </a:r>
            <a:endParaRPr lang="en-US" sz="1100" dirty="0"/>
          </a:p>
          <a:p>
            <a:pPr indent="0" marL="0">
              <a:lnSpc>
                <a:spcPts val="1900"/>
              </a:lnSpc>
              <a:buNone/>
            </a:pPr>
            <a:r>
              <a:rPr lang="en-US" sz="1100" dirty="0">
                <a:solidFill>
                  <a:srgbClr val="D8DEE2"/>
                </a:solidFill>
                <a:latin typeface="Consolas" pitchFamily="34" charset="0"/>
                <a:ea typeface="Consolas" pitchFamily="34" charset="-122"/>
                <a:cs typeface="Consolas" pitchFamily="34" charset="-120"/>
              </a:rPr>
              <a:t>Prime numbers less than 30 (10 found):</a:t>
            </a:r>
            <a:endParaRPr lang="en-US" sz="1100" dirty="0"/>
          </a:p>
          <a:p>
            <a:pPr indent="0" marL="0">
              <a:lnSpc>
                <a:spcPts val="1900"/>
              </a:lnSpc>
              <a:buNone/>
            </a:pPr>
            <a:r>
              <a:rPr lang="en-US" sz="1100" dirty="0">
                <a:solidFill>
                  <a:srgbClr val="D8DEE2"/>
                </a:solidFill>
                <a:latin typeface="Consolas" pitchFamily="34" charset="0"/>
                <a:ea typeface="Consolas" pitchFamily="34" charset="-122"/>
                <a:cs typeface="Consolas" pitchFamily="34" charset="-120"/>
              </a:rPr>
              <a:t>2, 3, 5, 7, 11, 13, 17, 19, 23, 29</a:t>
            </a:r>
            <a:endParaRPr lang="en-US" sz="1100" dirty="0"/>
          </a:p>
          <a:p>
            <a:pPr indent="0" marL="0">
              <a:lnSpc>
                <a:spcPts val="1900"/>
              </a:lnSpc>
              <a:buNone/>
            </a:pPr>
            <a:r>
              <a:rPr lang="en-US" sz="1100" dirty="0">
                <a:solidFill>
                  <a:srgbClr val="9AA5AB"/>
                </a:solidFill>
                <a:latin typeface="Consolas" pitchFamily="34" charset="0"/>
                <a:ea typeface="Consolas" pitchFamily="34" charset="-122"/>
                <a:cs typeface="Consolas" pitchFamily="34" charset="-120"/>
              </a:rPr>
              <a:t>n = 30 | primes = 10 | time = 0.000004 s</a:t>
            </a:r>
            <a:endParaRPr lang="en-US" sz="1100" dirty="0"/>
          </a:p>
          <a:p>
            <a:pPr indent="0" marL="0">
              <a:lnSpc>
                <a:spcPts val="1900"/>
              </a:lnSpc>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indent="0" marL="0">
              <a:lnSpc>
                <a:spcPts val="1900"/>
              </a:lnSpc>
              <a:buNone/>
            </a:pPr>
            <a:r>
              <a:rPr lang="en-US" sz="1100" dirty="0">
                <a:solidFill>
                  <a:srgbClr val="1BAF7A"/>
                </a:solidFill>
                <a:latin typeface="Consolas" pitchFamily="34" charset="0"/>
                <a:ea typeface="Consolas" pitchFamily="34" charset="-122"/>
                <a:cs typeface="Consolas" pitchFamily="34" charset="-120"/>
              </a:rPr>
              <a:t>$ ./task1 10000000</a:t>
            </a:r>
            <a:endParaRPr lang="en-US" sz="1100" dirty="0"/>
          </a:p>
          <a:p>
            <a:pPr indent="0" marL="0">
              <a:lnSpc>
                <a:spcPts val="1900"/>
              </a:lnSpc>
              <a:buNone/>
            </a:pPr>
            <a:r>
              <a:rPr lang="en-US" sz="1100" dirty="0">
                <a:solidFill>
                  <a:srgbClr val="D8DEE2"/>
                </a:solidFill>
                <a:latin typeface="Consolas" pitchFamily="34" charset="0"/>
                <a:ea typeface="Consolas" pitchFamily="34" charset="-122"/>
                <a:cs typeface="Consolas" pitchFamily="34" charset="-120"/>
              </a:rPr>
              <a:t>664579 primes written to primes_output.txt</a:t>
            </a:r>
            <a:endParaRPr lang="en-US" sz="1100" dirty="0"/>
          </a:p>
          <a:p>
            <a:pPr indent="0" marL="0">
              <a:lnSpc>
                <a:spcPts val="1900"/>
              </a:lnSpc>
              <a:buNone/>
            </a:pPr>
            <a:r>
              <a:rPr lang="en-US" sz="1100" dirty="0">
                <a:solidFill>
                  <a:srgbClr val="9AA5AB"/>
                </a:solidFill>
                <a:latin typeface="Consolas" pitchFamily="34" charset="0"/>
                <a:ea typeface="Consolas" pitchFamily="34" charset="-122"/>
                <a:cs typeface="Consolas" pitchFamily="34" charset="-120"/>
              </a:rPr>
              <a:t>n = 10000000 | primes found = 664579</a:t>
            </a:r>
            <a:endParaRPr lang="en-US" sz="1100" dirty="0"/>
          </a:p>
          <a:p>
            <a:pPr indent="0" marL="0">
              <a:lnSpc>
                <a:spcPts val="1900"/>
              </a:lnSpc>
              <a:buNone/>
            </a:pPr>
            <a:r>
              <a:rPr lang="en-US" sz="1100" dirty="0">
                <a:solidFill>
                  <a:srgbClr val="9AA5AB"/>
                </a:solidFill>
                <a:latin typeface="Consolas" pitchFamily="34" charset="0"/>
                <a:ea typeface="Consolas" pitchFamily="34" charset="-122"/>
                <a:cs typeface="Consolas" pitchFamily="34" charset="-120"/>
              </a:rPr>
              <a:t>   | time taken = 2.596699 seconds</a:t>
            </a:r>
            <a:endParaRPr lang="en-US" sz="1100" dirty="0"/>
          </a:p>
        </p:txBody>
      </p:sp>
      <p:sp>
        <p:nvSpPr>
          <p:cNvPr id="9" name="Text 7"/>
          <p:cNvSpPr/>
          <p:nvPr/>
        </p:nvSpPr>
        <p:spPr>
          <a:xfrm>
            <a:off x="548640" y="498348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Small n prints to standard output; n ≥ 100 goes to a text file. All three programs share a byte-for-byte identical is_prime, so every later comparison isolates parallelisation rather than a difference in the work being done.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Optimising the primality test</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Three versions behind one identical timing harness — only is_prime differs</a:t>
            </a:r>
            <a:endParaRPr lang="en-US" sz="1300" dirty="0"/>
          </a:p>
        </p:txBody>
      </p:sp>
      <p:pic>
        <p:nvPicPr>
          <p:cNvPr id="6" name="Image 0" descr="C:/Users/hrt_i/Monash/Fit3143/fit3143-lab1/graphs/graph0_task1_optimisation.png">    </p:cNvPr>
          <p:cNvPicPr>
            <a:picLocks noChangeAspect="1"/>
          </p:cNvPicPr>
          <p:nvPr/>
        </p:nvPicPr>
        <p:blipFill>
          <a:blip r:embed="rId1"/>
          <a:stretch>
            <a:fillRect/>
          </a:stretch>
        </p:blipFill>
        <p:spPr>
          <a:xfrm>
            <a:off x="548640" y="1325880"/>
            <a:ext cx="6858000" cy="4288536"/>
          </a:xfrm>
          <a:prstGeom prst="rect">
            <a:avLst/>
          </a:prstGeom>
        </p:spPr>
      </p:pic>
      <p:sp>
        <p:nvSpPr>
          <p:cNvPr id="7" name="Shape 4"/>
          <p:cNvSpPr/>
          <p:nvPr/>
        </p:nvSpPr>
        <p:spPr>
          <a:xfrm>
            <a:off x="7680960" y="1371600"/>
            <a:ext cx="1920240" cy="1417320"/>
          </a:xfrm>
          <a:prstGeom prst="roundRect">
            <a:avLst>
              <a:gd name="adj" fmla="val 5161"/>
            </a:avLst>
          </a:prstGeom>
          <a:solidFill>
            <a:srgbClr val="F2F4F5"/>
          </a:solidFill>
          <a:ln w="12700">
            <a:solidFill>
              <a:srgbClr val="F2F4F5"/>
            </a:solidFill>
            <a:prstDash val="solid"/>
          </a:ln>
        </p:spPr>
      </p:sp>
      <p:sp>
        <p:nvSpPr>
          <p:cNvPr id="8" name="Text 5"/>
          <p:cNvSpPr/>
          <p:nvPr/>
        </p:nvSpPr>
        <p:spPr>
          <a:xfrm>
            <a:off x="7772400" y="1481328"/>
            <a:ext cx="1737360" cy="777240"/>
          </a:xfrm>
          <a:prstGeom prst="rect">
            <a:avLst/>
          </a:prstGeom>
          <a:noFill/>
          <a:ln/>
        </p:spPr>
        <p:txBody>
          <a:bodyPr wrap="square" lIns="0" tIns="0" rIns="0" bIns="0" rtlCol="0" anchor="ctr"/>
          <a:lstStyle/>
          <a:p>
            <a:pPr algn="ctr" indent="0" marL="0">
              <a:buNone/>
            </a:pPr>
            <a:r>
              <a:rPr lang="en-US" sz="3600" b="1" dirty="0">
                <a:solidFill>
                  <a:srgbClr val="EB6834"/>
                </a:solidFill>
                <a:latin typeface="Calibri" pitchFamily="34" charset="0"/>
                <a:ea typeface="Calibri" pitchFamily="34" charset="-122"/>
                <a:cs typeface="Calibri" pitchFamily="34" charset="-120"/>
              </a:rPr>
              <a:t>1,090×</a:t>
            </a:r>
            <a:endParaRPr lang="en-US" sz="3600" dirty="0"/>
          </a:p>
        </p:txBody>
      </p:sp>
      <p:sp>
        <p:nvSpPr>
          <p:cNvPr id="9" name="Text 6"/>
          <p:cNvSpPr/>
          <p:nvPr/>
        </p:nvSpPr>
        <p:spPr>
          <a:xfrm>
            <a:off x="7790688" y="2240280"/>
            <a:ext cx="1700784" cy="457200"/>
          </a:xfrm>
          <a:prstGeom prst="rect">
            <a:avLst/>
          </a:prstGeom>
          <a:noFill/>
          <a:ln/>
        </p:spPr>
        <p:txBody>
          <a:bodyPr wrap="square" lIns="0" tIns="0" rIns="0" bIns="0" rtlCol="0" anchor="t"/>
          <a:lstStyle/>
          <a:p>
            <a:pPr algn="ctr" indent="0" marL="0">
              <a:buNone/>
            </a:pPr>
            <a:r>
              <a:rPr lang="en-US" sz="1100" dirty="0">
                <a:solidFill>
                  <a:srgbClr val="52616B"/>
                </a:solidFill>
                <a:latin typeface="Calibri" pitchFamily="34" charset="0"/>
                <a:ea typeface="Calibri" pitchFamily="34" charset="-122"/>
                <a:cs typeface="Calibri" pitchFamily="34" charset="-120"/>
              </a:rPr>
              <a:t>v1 → v3 at n = 10⁶</a:t>
            </a:r>
            <a:endParaRPr lang="en-US" sz="1100" dirty="0"/>
          </a:p>
        </p:txBody>
      </p:sp>
      <p:sp>
        <p:nvSpPr>
          <p:cNvPr id="10" name="Shape 7"/>
          <p:cNvSpPr/>
          <p:nvPr/>
        </p:nvSpPr>
        <p:spPr>
          <a:xfrm>
            <a:off x="9784080" y="1371600"/>
            <a:ext cx="1828800" cy="1417320"/>
          </a:xfrm>
          <a:prstGeom prst="roundRect">
            <a:avLst>
              <a:gd name="adj" fmla="val 5161"/>
            </a:avLst>
          </a:prstGeom>
          <a:solidFill>
            <a:srgbClr val="F2F4F5"/>
          </a:solidFill>
          <a:ln w="12700">
            <a:solidFill>
              <a:srgbClr val="F2F4F5"/>
            </a:solidFill>
            <a:prstDash val="solid"/>
          </a:ln>
        </p:spPr>
      </p:sp>
      <p:sp>
        <p:nvSpPr>
          <p:cNvPr id="11" name="Text 8"/>
          <p:cNvSpPr/>
          <p:nvPr/>
        </p:nvSpPr>
        <p:spPr>
          <a:xfrm>
            <a:off x="9875520" y="1481328"/>
            <a:ext cx="1645920" cy="777240"/>
          </a:xfrm>
          <a:prstGeom prst="rect">
            <a:avLst/>
          </a:prstGeom>
          <a:noFill/>
          <a:ln/>
        </p:spPr>
        <p:txBody>
          <a:bodyPr wrap="square" lIns="0" tIns="0" rIns="0" bIns="0" rtlCol="0" anchor="ctr"/>
          <a:lstStyle/>
          <a:p>
            <a:pPr algn="ctr" indent="0" marL="0">
              <a:buNone/>
            </a:pPr>
            <a:r>
              <a:rPr lang="en-US" sz="3600" b="1" dirty="0">
                <a:solidFill>
                  <a:srgbClr val="2A78D6"/>
                </a:solidFill>
                <a:latin typeface="Calibri" pitchFamily="34" charset="0"/>
                <a:ea typeface="Calibri" pitchFamily="34" charset="-122"/>
                <a:cs typeface="Calibri" pitchFamily="34" charset="-120"/>
              </a:rPr>
              <a:t>2.0×</a:t>
            </a:r>
            <a:endParaRPr lang="en-US" sz="3600" dirty="0"/>
          </a:p>
        </p:txBody>
      </p:sp>
      <p:sp>
        <p:nvSpPr>
          <p:cNvPr id="12" name="Text 9"/>
          <p:cNvSpPr/>
          <p:nvPr/>
        </p:nvSpPr>
        <p:spPr>
          <a:xfrm>
            <a:off x="9893808" y="2240280"/>
            <a:ext cx="1609344" cy="457200"/>
          </a:xfrm>
          <a:prstGeom prst="rect">
            <a:avLst/>
          </a:prstGeom>
          <a:noFill/>
          <a:ln/>
        </p:spPr>
        <p:txBody>
          <a:bodyPr wrap="square" lIns="0" tIns="0" rIns="0" bIns="0" rtlCol="0" anchor="t"/>
          <a:lstStyle/>
          <a:p>
            <a:pPr algn="ctr" indent="0" marL="0">
              <a:buNone/>
            </a:pPr>
            <a:r>
              <a:rPr lang="en-US" sz="1100" dirty="0">
                <a:solidFill>
                  <a:srgbClr val="52616B"/>
                </a:solidFill>
                <a:latin typeface="Calibri" pitchFamily="34" charset="0"/>
                <a:ea typeface="Calibri" pitchFamily="34" charset="-122"/>
                <a:cs typeface="Calibri" pitchFamily="34" charset="-120"/>
              </a:rPr>
              <a:t>odd-divisor skip alone, at every n</a:t>
            </a:r>
            <a:endParaRPr lang="en-US" sz="1100" dirty="0"/>
          </a:p>
        </p:txBody>
      </p:sp>
      <p:sp>
        <p:nvSpPr>
          <p:cNvPr id="13" name="Text 10"/>
          <p:cNvSpPr/>
          <p:nvPr/>
        </p:nvSpPr>
        <p:spPr>
          <a:xfrm>
            <a:off x="7680960" y="2971800"/>
            <a:ext cx="4023360" cy="1463040"/>
          </a:xfrm>
          <a:prstGeom prst="rect">
            <a:avLst/>
          </a:prstGeom>
          <a:noFill/>
          <a:ln/>
        </p:spPr>
        <p:txBody>
          <a:bodyPr wrap="square" lIns="0" tIns="0" rIns="0" bIns="0" rtlCol="0" anchor="ctr"/>
          <a:lstStyle/>
          <a:p>
            <a:pPr marL="342900" indent="-342900">
              <a:lnSpc>
                <a:spcPts val="2200"/>
              </a:lnSpc>
              <a:spcAft>
                <a:spcPts val="800"/>
              </a:spcAft>
              <a:buSzPct val="100000"/>
              <a:buChar char="•"/>
            </a:pPr>
            <a:r>
              <a:rPr lang="en-US" sz="1200" dirty="0">
                <a:solidFill>
                  <a:srgbClr val="52616B"/>
                </a:solidFill>
                <a:latin typeface="Calibri" pitchFamily="34" charset="0"/>
                <a:ea typeface="Calibri" pitchFamily="34" charset="-122"/>
                <a:cs typeface="Calibri" pitchFamily="34" charset="-120"/>
              </a:rPr>
              <a:t>Measured log-log slopes: 1.9 for v1, 1.37 for v2 and v3 — the complexity difference, observed rather than asserted</a:t>
            </a:r>
            <a:endParaRPr lang="en-US" sz="1200" dirty="0"/>
          </a:p>
          <a:p>
            <a:pPr marL="342900" indent="-342900">
              <a:lnSpc>
                <a:spcPts val="2200"/>
              </a:lnSpc>
              <a:spcAft>
                <a:spcPts val="800"/>
              </a:spcAft>
              <a:buSzPct val="100000"/>
              <a:buChar char="•"/>
            </a:pPr>
            <a:r>
              <a:rPr lang="en-US" sz="1200" dirty="0">
                <a:solidFill>
                  <a:srgbClr val="52616B"/>
                </a:solidFill>
                <a:latin typeface="Calibri" pitchFamily="34" charset="0"/>
                <a:ea typeface="Calibri" pitchFamily="34" charset="-122"/>
                <a:cs typeface="Calibri" pitchFamily="34" charset="-120"/>
              </a:rPr>
              <a:t>The gap widens with n: 89× at n = 10⁴, 1,090× at n = 10⁶</a:t>
            </a:r>
            <a:endParaRPr lang="en-US" sz="1200" dirty="0"/>
          </a:p>
        </p:txBody>
      </p:sp>
      <p:sp>
        <p:nvSpPr>
          <p:cNvPr id="14" name="Shape 11"/>
          <p:cNvSpPr/>
          <p:nvPr/>
        </p:nvSpPr>
        <p:spPr>
          <a:xfrm>
            <a:off x="7680960" y="4526280"/>
            <a:ext cx="4023360" cy="1097280"/>
          </a:xfrm>
          <a:prstGeom prst="roundRect">
            <a:avLst>
              <a:gd name="adj" fmla="val 5000"/>
            </a:avLst>
          </a:prstGeom>
          <a:solidFill>
            <a:srgbClr val="FDF0EA"/>
          </a:solidFill>
          <a:ln w="12700">
            <a:solidFill>
              <a:srgbClr val="FDF0EA"/>
            </a:solidFill>
            <a:prstDash val="solid"/>
          </a:ln>
        </p:spPr>
      </p:sp>
      <p:sp>
        <p:nvSpPr>
          <p:cNvPr id="15" name="Text 12"/>
          <p:cNvSpPr/>
          <p:nvPr/>
        </p:nvSpPr>
        <p:spPr>
          <a:xfrm>
            <a:off x="7818120" y="4626864"/>
            <a:ext cx="3749040" cy="914400"/>
          </a:xfrm>
          <a:prstGeom prst="rect">
            <a:avLst/>
          </a:prstGeom>
          <a:noFill/>
          <a:ln/>
        </p:spPr>
        <p:txBody>
          <a:bodyPr wrap="square" lIns="0" tIns="0" rIns="0" bIns="0" rtlCol="0" anchor="ctr"/>
          <a:lstStyle/>
          <a:p>
            <a:pPr indent="0" marL="0">
              <a:buNone/>
            </a:pPr>
            <a:r>
              <a:rPr lang="en-US" sz="1100" b="1" dirty="0">
                <a:solidFill>
                  <a:srgbClr val="8A3B1C"/>
                </a:solidFill>
                <a:latin typeface="Calibri" pitchFamily="34" charset="0"/>
                <a:ea typeface="Calibri" pitchFamily="34" charset="-122"/>
                <a:cs typeface="Calibri" pitchFamily="34" charset="-120"/>
              </a:rPr>
              <a:t>At n = 10⁶ the naive version needs 113.8 s. Parallelised perfectly over 8 threads it would still take about 38 s — the optimised serial version finishes in 0.10 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Parallel partitioning scheme</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task2.c  ·  POSIX Threads  ·  how the workload is distributed</a:t>
            </a:r>
            <a:endParaRPr lang="en-US" sz="1300" dirty="0"/>
          </a:p>
        </p:txBody>
      </p:sp>
      <p:sp>
        <p:nvSpPr>
          <p:cNvPr id="6" name="Text 4"/>
          <p:cNvSpPr/>
          <p:nvPr/>
        </p:nvSpPr>
        <p:spPr>
          <a:xfrm>
            <a:off x="548640" y="1325880"/>
            <a:ext cx="7223760" cy="274320"/>
          </a:xfrm>
          <a:prstGeom prst="rect">
            <a:avLst/>
          </a:prstGeom>
          <a:noFill/>
          <a:ln/>
        </p:spPr>
        <p:txBody>
          <a:bodyPr wrap="square" lIns="0" tIns="0" rIns="0" bIns="0" rtlCol="0" anchor="ctr"/>
          <a:lstStyle/>
          <a:p>
            <a:pPr indent="0" marL="0">
              <a:buNone/>
            </a:pPr>
            <a:r>
              <a:rPr lang="en-US" sz="1300" b="1" dirty="0">
                <a:solidFill>
                  <a:srgbClr val="1A2226"/>
                </a:solidFill>
                <a:latin typeface="Calibri" pitchFamily="34" charset="0"/>
                <a:ea typeface="Calibri" pitchFamily="34" charset="-122"/>
                <a:cs typeface="Calibri" pitchFamily="34" charset="-120"/>
              </a:rPr>
              <a:t>Contiguous blocks — one range per thread</a:t>
            </a:r>
            <a:endParaRPr lang="en-US" sz="1300" dirty="0"/>
          </a:p>
        </p:txBody>
      </p:sp>
      <p:sp>
        <p:nvSpPr>
          <p:cNvPr id="7" name="Shape 5"/>
          <p:cNvSpPr/>
          <p:nvPr/>
        </p:nvSpPr>
        <p:spPr>
          <a:xfrm>
            <a:off x="548640" y="1664208"/>
            <a:ext cx="424053" cy="420624"/>
          </a:xfrm>
          <a:prstGeom prst="rect">
            <a:avLst/>
          </a:prstGeom>
          <a:solidFill>
            <a:srgbClr val="CDE2FB"/>
          </a:solidFill>
          <a:ln w="12700">
            <a:solidFill>
              <a:srgbClr val="FFFFFF"/>
            </a:solidFill>
            <a:prstDash val="solid"/>
          </a:ln>
        </p:spPr>
      </p:sp>
      <p:sp>
        <p:nvSpPr>
          <p:cNvPr id="8" name="Shape 6"/>
          <p:cNvSpPr/>
          <p:nvPr/>
        </p:nvSpPr>
        <p:spPr>
          <a:xfrm>
            <a:off x="1000125" y="1664208"/>
            <a:ext cx="424053" cy="420624"/>
          </a:xfrm>
          <a:prstGeom prst="rect">
            <a:avLst/>
          </a:prstGeom>
          <a:solidFill>
            <a:srgbClr val="CDE2FB"/>
          </a:solidFill>
          <a:ln w="12700">
            <a:solidFill>
              <a:srgbClr val="FFFFFF"/>
            </a:solidFill>
            <a:prstDash val="solid"/>
          </a:ln>
        </p:spPr>
      </p:sp>
      <p:sp>
        <p:nvSpPr>
          <p:cNvPr id="9" name="Shape 7"/>
          <p:cNvSpPr/>
          <p:nvPr/>
        </p:nvSpPr>
        <p:spPr>
          <a:xfrm>
            <a:off x="1451610" y="1664208"/>
            <a:ext cx="424053" cy="420624"/>
          </a:xfrm>
          <a:prstGeom prst="rect">
            <a:avLst/>
          </a:prstGeom>
          <a:solidFill>
            <a:srgbClr val="CDE2FB"/>
          </a:solidFill>
          <a:ln w="12700">
            <a:solidFill>
              <a:srgbClr val="FFFFFF"/>
            </a:solidFill>
            <a:prstDash val="solid"/>
          </a:ln>
        </p:spPr>
      </p:sp>
      <p:sp>
        <p:nvSpPr>
          <p:cNvPr id="10" name="Shape 8"/>
          <p:cNvSpPr/>
          <p:nvPr/>
        </p:nvSpPr>
        <p:spPr>
          <a:xfrm>
            <a:off x="1903095" y="1664208"/>
            <a:ext cx="424053" cy="420624"/>
          </a:xfrm>
          <a:prstGeom prst="rect">
            <a:avLst/>
          </a:prstGeom>
          <a:solidFill>
            <a:srgbClr val="CDE2FB"/>
          </a:solidFill>
          <a:ln w="12700">
            <a:solidFill>
              <a:srgbClr val="FFFFFF"/>
            </a:solidFill>
            <a:prstDash val="solid"/>
          </a:ln>
        </p:spPr>
      </p:sp>
      <p:sp>
        <p:nvSpPr>
          <p:cNvPr id="11" name="Shape 9"/>
          <p:cNvSpPr/>
          <p:nvPr/>
        </p:nvSpPr>
        <p:spPr>
          <a:xfrm>
            <a:off x="2354580" y="1664208"/>
            <a:ext cx="424053" cy="420624"/>
          </a:xfrm>
          <a:prstGeom prst="rect">
            <a:avLst/>
          </a:prstGeom>
          <a:solidFill>
            <a:srgbClr val="86B6EF"/>
          </a:solidFill>
          <a:ln w="12700">
            <a:solidFill>
              <a:srgbClr val="FFFFFF"/>
            </a:solidFill>
            <a:prstDash val="solid"/>
          </a:ln>
        </p:spPr>
      </p:sp>
      <p:sp>
        <p:nvSpPr>
          <p:cNvPr id="12" name="Shape 10"/>
          <p:cNvSpPr/>
          <p:nvPr/>
        </p:nvSpPr>
        <p:spPr>
          <a:xfrm>
            <a:off x="2806065" y="1664208"/>
            <a:ext cx="424053" cy="420624"/>
          </a:xfrm>
          <a:prstGeom prst="rect">
            <a:avLst/>
          </a:prstGeom>
          <a:solidFill>
            <a:srgbClr val="86B6EF"/>
          </a:solidFill>
          <a:ln w="12700">
            <a:solidFill>
              <a:srgbClr val="FFFFFF"/>
            </a:solidFill>
            <a:prstDash val="solid"/>
          </a:ln>
        </p:spPr>
      </p:sp>
      <p:sp>
        <p:nvSpPr>
          <p:cNvPr id="13" name="Shape 11"/>
          <p:cNvSpPr/>
          <p:nvPr/>
        </p:nvSpPr>
        <p:spPr>
          <a:xfrm>
            <a:off x="3257550" y="1664208"/>
            <a:ext cx="424053" cy="420624"/>
          </a:xfrm>
          <a:prstGeom prst="rect">
            <a:avLst/>
          </a:prstGeom>
          <a:solidFill>
            <a:srgbClr val="86B6EF"/>
          </a:solidFill>
          <a:ln w="12700">
            <a:solidFill>
              <a:srgbClr val="FFFFFF"/>
            </a:solidFill>
            <a:prstDash val="solid"/>
          </a:ln>
        </p:spPr>
      </p:sp>
      <p:sp>
        <p:nvSpPr>
          <p:cNvPr id="14" name="Shape 12"/>
          <p:cNvSpPr/>
          <p:nvPr/>
        </p:nvSpPr>
        <p:spPr>
          <a:xfrm>
            <a:off x="3709035" y="1664208"/>
            <a:ext cx="424053" cy="420624"/>
          </a:xfrm>
          <a:prstGeom prst="rect">
            <a:avLst/>
          </a:prstGeom>
          <a:solidFill>
            <a:srgbClr val="86B6EF"/>
          </a:solidFill>
          <a:ln w="12700">
            <a:solidFill>
              <a:srgbClr val="FFFFFF"/>
            </a:solidFill>
            <a:prstDash val="solid"/>
          </a:ln>
        </p:spPr>
      </p:sp>
      <p:sp>
        <p:nvSpPr>
          <p:cNvPr id="15" name="Shape 13"/>
          <p:cNvSpPr/>
          <p:nvPr/>
        </p:nvSpPr>
        <p:spPr>
          <a:xfrm>
            <a:off x="4160520" y="1664208"/>
            <a:ext cx="424053" cy="420624"/>
          </a:xfrm>
          <a:prstGeom prst="rect">
            <a:avLst/>
          </a:prstGeom>
          <a:solidFill>
            <a:srgbClr val="2A78D6"/>
          </a:solidFill>
          <a:ln w="12700">
            <a:solidFill>
              <a:srgbClr val="FFFFFF"/>
            </a:solidFill>
            <a:prstDash val="solid"/>
          </a:ln>
        </p:spPr>
      </p:sp>
      <p:sp>
        <p:nvSpPr>
          <p:cNvPr id="16" name="Shape 14"/>
          <p:cNvSpPr/>
          <p:nvPr/>
        </p:nvSpPr>
        <p:spPr>
          <a:xfrm>
            <a:off x="4612005" y="1664208"/>
            <a:ext cx="424053" cy="420624"/>
          </a:xfrm>
          <a:prstGeom prst="rect">
            <a:avLst/>
          </a:prstGeom>
          <a:solidFill>
            <a:srgbClr val="2A78D6"/>
          </a:solidFill>
          <a:ln w="12700">
            <a:solidFill>
              <a:srgbClr val="FFFFFF"/>
            </a:solidFill>
            <a:prstDash val="solid"/>
          </a:ln>
        </p:spPr>
      </p:sp>
      <p:sp>
        <p:nvSpPr>
          <p:cNvPr id="17" name="Shape 15"/>
          <p:cNvSpPr/>
          <p:nvPr/>
        </p:nvSpPr>
        <p:spPr>
          <a:xfrm>
            <a:off x="5063490" y="1664208"/>
            <a:ext cx="424053" cy="420624"/>
          </a:xfrm>
          <a:prstGeom prst="rect">
            <a:avLst/>
          </a:prstGeom>
          <a:solidFill>
            <a:srgbClr val="2A78D6"/>
          </a:solidFill>
          <a:ln w="12700">
            <a:solidFill>
              <a:srgbClr val="FFFFFF"/>
            </a:solidFill>
            <a:prstDash val="solid"/>
          </a:ln>
        </p:spPr>
      </p:sp>
      <p:sp>
        <p:nvSpPr>
          <p:cNvPr id="18" name="Shape 16"/>
          <p:cNvSpPr/>
          <p:nvPr/>
        </p:nvSpPr>
        <p:spPr>
          <a:xfrm>
            <a:off x="5514975" y="1664208"/>
            <a:ext cx="424053" cy="420624"/>
          </a:xfrm>
          <a:prstGeom prst="rect">
            <a:avLst/>
          </a:prstGeom>
          <a:solidFill>
            <a:srgbClr val="2A78D6"/>
          </a:solidFill>
          <a:ln w="12700">
            <a:solidFill>
              <a:srgbClr val="FFFFFF"/>
            </a:solidFill>
            <a:prstDash val="solid"/>
          </a:ln>
        </p:spPr>
      </p:sp>
      <p:sp>
        <p:nvSpPr>
          <p:cNvPr id="19" name="Shape 17"/>
          <p:cNvSpPr/>
          <p:nvPr/>
        </p:nvSpPr>
        <p:spPr>
          <a:xfrm>
            <a:off x="5966460" y="1664208"/>
            <a:ext cx="424053" cy="420624"/>
          </a:xfrm>
          <a:prstGeom prst="rect">
            <a:avLst/>
          </a:prstGeom>
          <a:solidFill>
            <a:srgbClr val="0D366B"/>
          </a:solidFill>
          <a:ln w="12700">
            <a:solidFill>
              <a:srgbClr val="FFFFFF"/>
            </a:solidFill>
            <a:prstDash val="solid"/>
          </a:ln>
        </p:spPr>
      </p:sp>
      <p:sp>
        <p:nvSpPr>
          <p:cNvPr id="20" name="Shape 18"/>
          <p:cNvSpPr/>
          <p:nvPr/>
        </p:nvSpPr>
        <p:spPr>
          <a:xfrm>
            <a:off x="6417945" y="1664208"/>
            <a:ext cx="424053" cy="420624"/>
          </a:xfrm>
          <a:prstGeom prst="rect">
            <a:avLst/>
          </a:prstGeom>
          <a:solidFill>
            <a:srgbClr val="0D366B"/>
          </a:solidFill>
          <a:ln w="12700">
            <a:solidFill>
              <a:srgbClr val="FFFFFF"/>
            </a:solidFill>
            <a:prstDash val="solid"/>
          </a:ln>
        </p:spPr>
      </p:sp>
      <p:sp>
        <p:nvSpPr>
          <p:cNvPr id="21" name="Shape 19"/>
          <p:cNvSpPr/>
          <p:nvPr/>
        </p:nvSpPr>
        <p:spPr>
          <a:xfrm>
            <a:off x="6869430" y="1664208"/>
            <a:ext cx="424053" cy="420624"/>
          </a:xfrm>
          <a:prstGeom prst="rect">
            <a:avLst/>
          </a:prstGeom>
          <a:solidFill>
            <a:srgbClr val="0D366B"/>
          </a:solidFill>
          <a:ln w="12700">
            <a:solidFill>
              <a:srgbClr val="FFFFFF"/>
            </a:solidFill>
            <a:prstDash val="solid"/>
          </a:ln>
        </p:spPr>
      </p:sp>
      <p:sp>
        <p:nvSpPr>
          <p:cNvPr id="22" name="Shape 20"/>
          <p:cNvSpPr/>
          <p:nvPr/>
        </p:nvSpPr>
        <p:spPr>
          <a:xfrm>
            <a:off x="7320915" y="1664208"/>
            <a:ext cx="424053" cy="420624"/>
          </a:xfrm>
          <a:prstGeom prst="rect">
            <a:avLst/>
          </a:prstGeom>
          <a:solidFill>
            <a:srgbClr val="0D366B"/>
          </a:solidFill>
          <a:ln w="12700">
            <a:solidFill>
              <a:srgbClr val="FFFFFF"/>
            </a:solidFill>
            <a:prstDash val="solid"/>
          </a:ln>
        </p:spPr>
      </p:sp>
      <p:sp>
        <p:nvSpPr>
          <p:cNvPr id="23" name="Text 21"/>
          <p:cNvSpPr/>
          <p:nvPr/>
        </p:nvSpPr>
        <p:spPr>
          <a:xfrm>
            <a:off x="548640" y="2139696"/>
            <a:ext cx="7223760" cy="274320"/>
          </a:xfrm>
          <a:prstGeom prst="rect">
            <a:avLst/>
          </a:prstGeom>
          <a:noFill/>
          <a:ln/>
        </p:spPr>
        <p:txBody>
          <a:bodyPr wrap="square" lIns="0" tIns="0" rIns="0" bIns="0" rtlCol="0" anchor="ctr"/>
          <a:lstStyle/>
          <a:p>
            <a:pPr indent="0" marL="0">
              <a:buNone/>
            </a:pPr>
            <a:r>
              <a:rPr lang="en-US" sz="1100" i="1" dirty="0">
                <a:solidFill>
                  <a:srgbClr val="EB6834"/>
                </a:solidFill>
                <a:latin typeface="Calibri" pitchFamily="34" charset="0"/>
                <a:ea typeface="Calibri" pitchFamily="34" charset="-122"/>
                <a:cs typeface="Calibri" pitchFamily="34" charset="-120"/>
              </a:rPr>
              <a:t>thread 3 owns the whole expensive end, finishes last, and everyone waits</a:t>
            </a:r>
            <a:endParaRPr lang="en-US" sz="1100" dirty="0"/>
          </a:p>
        </p:txBody>
      </p:sp>
      <p:sp>
        <p:nvSpPr>
          <p:cNvPr id="24" name="Text 22"/>
          <p:cNvSpPr/>
          <p:nvPr/>
        </p:nvSpPr>
        <p:spPr>
          <a:xfrm>
            <a:off x="548640" y="2697480"/>
            <a:ext cx="7223760" cy="274320"/>
          </a:xfrm>
          <a:prstGeom prst="rect">
            <a:avLst/>
          </a:prstGeom>
          <a:noFill/>
          <a:ln/>
        </p:spPr>
        <p:txBody>
          <a:bodyPr wrap="square" lIns="0" tIns="0" rIns="0" bIns="0" rtlCol="0" anchor="ctr"/>
          <a:lstStyle/>
          <a:p>
            <a:pPr indent="0" marL="0">
              <a:buNone/>
            </a:pPr>
            <a:r>
              <a:rPr lang="en-US" sz="1300" b="1" dirty="0">
                <a:solidFill>
                  <a:srgbClr val="1A2226"/>
                </a:solidFill>
                <a:latin typeface="Calibri" pitchFamily="34" charset="0"/>
                <a:ea typeface="Calibri" pitchFamily="34" charset="-122"/>
                <a:cs typeface="Calibri" pitchFamily="34" charset="-120"/>
              </a:rPr>
              <a:t>Cyclic — interleaved, one value at a time</a:t>
            </a:r>
            <a:endParaRPr lang="en-US" sz="1300" dirty="0"/>
          </a:p>
        </p:txBody>
      </p:sp>
      <p:sp>
        <p:nvSpPr>
          <p:cNvPr id="25" name="Shape 23"/>
          <p:cNvSpPr/>
          <p:nvPr/>
        </p:nvSpPr>
        <p:spPr>
          <a:xfrm>
            <a:off x="548640" y="3035808"/>
            <a:ext cx="424053" cy="420624"/>
          </a:xfrm>
          <a:prstGeom prst="rect">
            <a:avLst/>
          </a:prstGeom>
          <a:solidFill>
            <a:srgbClr val="CDE2FB"/>
          </a:solidFill>
          <a:ln w="12700">
            <a:solidFill>
              <a:srgbClr val="FFFFFF"/>
            </a:solidFill>
            <a:prstDash val="solid"/>
          </a:ln>
        </p:spPr>
      </p:sp>
      <p:sp>
        <p:nvSpPr>
          <p:cNvPr id="26" name="Shape 24"/>
          <p:cNvSpPr/>
          <p:nvPr/>
        </p:nvSpPr>
        <p:spPr>
          <a:xfrm>
            <a:off x="1000125" y="3035808"/>
            <a:ext cx="424053" cy="420624"/>
          </a:xfrm>
          <a:prstGeom prst="rect">
            <a:avLst/>
          </a:prstGeom>
          <a:solidFill>
            <a:srgbClr val="86B6EF"/>
          </a:solidFill>
          <a:ln w="12700">
            <a:solidFill>
              <a:srgbClr val="FFFFFF"/>
            </a:solidFill>
            <a:prstDash val="solid"/>
          </a:ln>
        </p:spPr>
      </p:sp>
      <p:sp>
        <p:nvSpPr>
          <p:cNvPr id="27" name="Shape 25"/>
          <p:cNvSpPr/>
          <p:nvPr/>
        </p:nvSpPr>
        <p:spPr>
          <a:xfrm>
            <a:off x="1451610" y="3035808"/>
            <a:ext cx="424053" cy="420624"/>
          </a:xfrm>
          <a:prstGeom prst="rect">
            <a:avLst/>
          </a:prstGeom>
          <a:solidFill>
            <a:srgbClr val="2A78D6"/>
          </a:solidFill>
          <a:ln w="12700">
            <a:solidFill>
              <a:srgbClr val="FFFFFF"/>
            </a:solidFill>
            <a:prstDash val="solid"/>
          </a:ln>
        </p:spPr>
      </p:sp>
      <p:sp>
        <p:nvSpPr>
          <p:cNvPr id="28" name="Shape 26"/>
          <p:cNvSpPr/>
          <p:nvPr/>
        </p:nvSpPr>
        <p:spPr>
          <a:xfrm>
            <a:off x="1903095" y="3035808"/>
            <a:ext cx="424053" cy="420624"/>
          </a:xfrm>
          <a:prstGeom prst="rect">
            <a:avLst/>
          </a:prstGeom>
          <a:solidFill>
            <a:srgbClr val="0D366B"/>
          </a:solidFill>
          <a:ln w="12700">
            <a:solidFill>
              <a:srgbClr val="FFFFFF"/>
            </a:solidFill>
            <a:prstDash val="solid"/>
          </a:ln>
        </p:spPr>
      </p:sp>
      <p:sp>
        <p:nvSpPr>
          <p:cNvPr id="29" name="Shape 27"/>
          <p:cNvSpPr/>
          <p:nvPr/>
        </p:nvSpPr>
        <p:spPr>
          <a:xfrm>
            <a:off x="2354580" y="3035808"/>
            <a:ext cx="424053" cy="420624"/>
          </a:xfrm>
          <a:prstGeom prst="rect">
            <a:avLst/>
          </a:prstGeom>
          <a:solidFill>
            <a:srgbClr val="CDE2FB"/>
          </a:solidFill>
          <a:ln w="12700">
            <a:solidFill>
              <a:srgbClr val="FFFFFF"/>
            </a:solidFill>
            <a:prstDash val="solid"/>
          </a:ln>
        </p:spPr>
      </p:sp>
      <p:sp>
        <p:nvSpPr>
          <p:cNvPr id="30" name="Shape 28"/>
          <p:cNvSpPr/>
          <p:nvPr/>
        </p:nvSpPr>
        <p:spPr>
          <a:xfrm>
            <a:off x="2806065" y="3035808"/>
            <a:ext cx="424053" cy="420624"/>
          </a:xfrm>
          <a:prstGeom prst="rect">
            <a:avLst/>
          </a:prstGeom>
          <a:solidFill>
            <a:srgbClr val="86B6EF"/>
          </a:solidFill>
          <a:ln w="12700">
            <a:solidFill>
              <a:srgbClr val="FFFFFF"/>
            </a:solidFill>
            <a:prstDash val="solid"/>
          </a:ln>
        </p:spPr>
      </p:sp>
      <p:sp>
        <p:nvSpPr>
          <p:cNvPr id="31" name="Shape 29"/>
          <p:cNvSpPr/>
          <p:nvPr/>
        </p:nvSpPr>
        <p:spPr>
          <a:xfrm>
            <a:off x="3257550" y="3035808"/>
            <a:ext cx="424053" cy="420624"/>
          </a:xfrm>
          <a:prstGeom prst="rect">
            <a:avLst/>
          </a:prstGeom>
          <a:solidFill>
            <a:srgbClr val="2A78D6"/>
          </a:solidFill>
          <a:ln w="12700">
            <a:solidFill>
              <a:srgbClr val="FFFFFF"/>
            </a:solidFill>
            <a:prstDash val="solid"/>
          </a:ln>
        </p:spPr>
      </p:sp>
      <p:sp>
        <p:nvSpPr>
          <p:cNvPr id="32" name="Shape 30"/>
          <p:cNvSpPr/>
          <p:nvPr/>
        </p:nvSpPr>
        <p:spPr>
          <a:xfrm>
            <a:off x="3709035" y="3035808"/>
            <a:ext cx="424053" cy="420624"/>
          </a:xfrm>
          <a:prstGeom prst="rect">
            <a:avLst/>
          </a:prstGeom>
          <a:solidFill>
            <a:srgbClr val="0D366B"/>
          </a:solidFill>
          <a:ln w="12700">
            <a:solidFill>
              <a:srgbClr val="FFFFFF"/>
            </a:solidFill>
            <a:prstDash val="solid"/>
          </a:ln>
        </p:spPr>
      </p:sp>
      <p:sp>
        <p:nvSpPr>
          <p:cNvPr id="33" name="Shape 31"/>
          <p:cNvSpPr/>
          <p:nvPr/>
        </p:nvSpPr>
        <p:spPr>
          <a:xfrm>
            <a:off x="4160520" y="3035808"/>
            <a:ext cx="424053" cy="420624"/>
          </a:xfrm>
          <a:prstGeom prst="rect">
            <a:avLst/>
          </a:prstGeom>
          <a:solidFill>
            <a:srgbClr val="CDE2FB"/>
          </a:solidFill>
          <a:ln w="12700">
            <a:solidFill>
              <a:srgbClr val="FFFFFF"/>
            </a:solidFill>
            <a:prstDash val="solid"/>
          </a:ln>
        </p:spPr>
      </p:sp>
      <p:sp>
        <p:nvSpPr>
          <p:cNvPr id="34" name="Shape 32"/>
          <p:cNvSpPr/>
          <p:nvPr/>
        </p:nvSpPr>
        <p:spPr>
          <a:xfrm>
            <a:off x="4612005" y="3035808"/>
            <a:ext cx="424053" cy="420624"/>
          </a:xfrm>
          <a:prstGeom prst="rect">
            <a:avLst/>
          </a:prstGeom>
          <a:solidFill>
            <a:srgbClr val="86B6EF"/>
          </a:solidFill>
          <a:ln w="12700">
            <a:solidFill>
              <a:srgbClr val="FFFFFF"/>
            </a:solidFill>
            <a:prstDash val="solid"/>
          </a:ln>
        </p:spPr>
      </p:sp>
      <p:sp>
        <p:nvSpPr>
          <p:cNvPr id="35" name="Shape 33"/>
          <p:cNvSpPr/>
          <p:nvPr/>
        </p:nvSpPr>
        <p:spPr>
          <a:xfrm>
            <a:off x="5063490" y="3035808"/>
            <a:ext cx="424053" cy="420624"/>
          </a:xfrm>
          <a:prstGeom prst="rect">
            <a:avLst/>
          </a:prstGeom>
          <a:solidFill>
            <a:srgbClr val="2A78D6"/>
          </a:solidFill>
          <a:ln w="12700">
            <a:solidFill>
              <a:srgbClr val="FFFFFF"/>
            </a:solidFill>
            <a:prstDash val="solid"/>
          </a:ln>
        </p:spPr>
      </p:sp>
      <p:sp>
        <p:nvSpPr>
          <p:cNvPr id="36" name="Shape 34"/>
          <p:cNvSpPr/>
          <p:nvPr/>
        </p:nvSpPr>
        <p:spPr>
          <a:xfrm>
            <a:off x="5514975" y="3035808"/>
            <a:ext cx="424053" cy="420624"/>
          </a:xfrm>
          <a:prstGeom prst="rect">
            <a:avLst/>
          </a:prstGeom>
          <a:solidFill>
            <a:srgbClr val="0D366B"/>
          </a:solidFill>
          <a:ln w="12700">
            <a:solidFill>
              <a:srgbClr val="FFFFFF"/>
            </a:solidFill>
            <a:prstDash val="solid"/>
          </a:ln>
        </p:spPr>
      </p:sp>
      <p:sp>
        <p:nvSpPr>
          <p:cNvPr id="37" name="Shape 35"/>
          <p:cNvSpPr/>
          <p:nvPr/>
        </p:nvSpPr>
        <p:spPr>
          <a:xfrm>
            <a:off x="5966460" y="3035808"/>
            <a:ext cx="424053" cy="420624"/>
          </a:xfrm>
          <a:prstGeom prst="rect">
            <a:avLst/>
          </a:prstGeom>
          <a:solidFill>
            <a:srgbClr val="CDE2FB"/>
          </a:solidFill>
          <a:ln w="12700">
            <a:solidFill>
              <a:srgbClr val="FFFFFF"/>
            </a:solidFill>
            <a:prstDash val="solid"/>
          </a:ln>
        </p:spPr>
      </p:sp>
      <p:sp>
        <p:nvSpPr>
          <p:cNvPr id="38" name="Shape 36"/>
          <p:cNvSpPr/>
          <p:nvPr/>
        </p:nvSpPr>
        <p:spPr>
          <a:xfrm>
            <a:off x="6417945" y="3035808"/>
            <a:ext cx="424053" cy="420624"/>
          </a:xfrm>
          <a:prstGeom prst="rect">
            <a:avLst/>
          </a:prstGeom>
          <a:solidFill>
            <a:srgbClr val="86B6EF"/>
          </a:solidFill>
          <a:ln w="12700">
            <a:solidFill>
              <a:srgbClr val="FFFFFF"/>
            </a:solidFill>
            <a:prstDash val="solid"/>
          </a:ln>
        </p:spPr>
      </p:sp>
      <p:sp>
        <p:nvSpPr>
          <p:cNvPr id="39" name="Shape 37"/>
          <p:cNvSpPr/>
          <p:nvPr/>
        </p:nvSpPr>
        <p:spPr>
          <a:xfrm>
            <a:off x="6869430" y="3035808"/>
            <a:ext cx="424053" cy="420624"/>
          </a:xfrm>
          <a:prstGeom prst="rect">
            <a:avLst/>
          </a:prstGeom>
          <a:solidFill>
            <a:srgbClr val="2A78D6"/>
          </a:solidFill>
          <a:ln w="12700">
            <a:solidFill>
              <a:srgbClr val="FFFFFF"/>
            </a:solidFill>
            <a:prstDash val="solid"/>
          </a:ln>
        </p:spPr>
      </p:sp>
      <p:sp>
        <p:nvSpPr>
          <p:cNvPr id="40" name="Shape 38"/>
          <p:cNvSpPr/>
          <p:nvPr/>
        </p:nvSpPr>
        <p:spPr>
          <a:xfrm>
            <a:off x="7320915" y="3035808"/>
            <a:ext cx="424053" cy="420624"/>
          </a:xfrm>
          <a:prstGeom prst="rect">
            <a:avLst/>
          </a:prstGeom>
          <a:solidFill>
            <a:srgbClr val="0D366B"/>
          </a:solidFill>
          <a:ln w="12700">
            <a:solidFill>
              <a:srgbClr val="FFFFFF"/>
            </a:solidFill>
            <a:prstDash val="solid"/>
          </a:ln>
        </p:spPr>
      </p:sp>
      <p:sp>
        <p:nvSpPr>
          <p:cNvPr id="41" name="Text 39"/>
          <p:cNvSpPr/>
          <p:nvPr/>
        </p:nvSpPr>
        <p:spPr>
          <a:xfrm>
            <a:off x="548640" y="3511296"/>
            <a:ext cx="7223760" cy="274320"/>
          </a:xfrm>
          <a:prstGeom prst="rect">
            <a:avLst/>
          </a:prstGeom>
          <a:noFill/>
          <a:ln/>
        </p:spPr>
        <p:txBody>
          <a:bodyPr wrap="square" lIns="0" tIns="0" rIns="0" bIns="0" rtlCol="0" anchor="ctr"/>
          <a:lstStyle/>
          <a:p>
            <a:pPr indent="0" marL="0">
              <a:buNone/>
            </a:pPr>
            <a:r>
              <a:rPr lang="en-US" sz="1100" i="1" dirty="0">
                <a:solidFill>
                  <a:srgbClr val="1BAF7A"/>
                </a:solidFill>
                <a:latin typeface="Calibri" pitchFamily="34" charset="0"/>
                <a:ea typeface="Calibri" pitchFamily="34" charset="-122"/>
                <a:cs typeface="Calibri" pitchFamily="34" charset="-120"/>
              </a:rPr>
              <a:t>every thread gets the same mix of cheap and expensive values</a:t>
            </a:r>
            <a:endParaRPr lang="en-US" sz="1100" dirty="0"/>
          </a:p>
        </p:txBody>
      </p:sp>
      <p:sp>
        <p:nvSpPr>
          <p:cNvPr id="42" name="Shape 40"/>
          <p:cNvSpPr/>
          <p:nvPr/>
        </p:nvSpPr>
        <p:spPr>
          <a:xfrm>
            <a:off x="548640" y="4069080"/>
            <a:ext cx="7223760" cy="0"/>
          </a:xfrm>
          <a:prstGeom prst="line">
            <a:avLst/>
          </a:prstGeom>
          <a:noFill/>
          <a:ln w="15875">
            <a:solidFill>
              <a:srgbClr val="8A9299"/>
            </a:solidFill>
            <a:prstDash val="solid"/>
            <a:tailEnd type="triangle"/>
          </a:ln>
        </p:spPr>
      </p:sp>
      <p:sp>
        <p:nvSpPr>
          <p:cNvPr id="43" name="Text 41"/>
          <p:cNvSpPr/>
          <p:nvPr/>
        </p:nvSpPr>
        <p:spPr>
          <a:xfrm>
            <a:off x="548640" y="4142232"/>
            <a:ext cx="7223760" cy="274320"/>
          </a:xfrm>
          <a:prstGeom prst="rect">
            <a:avLst/>
          </a:prstGeom>
          <a:noFill/>
          <a:ln/>
        </p:spPr>
        <p:txBody>
          <a:bodyPr wrap="square" lIns="0" tIns="0" rIns="0" bIns="0" rtlCol="0" anchor="ctr"/>
          <a:lstStyle/>
          <a:p>
            <a:pPr algn="ctr" indent="0" marL="0">
              <a:buNone/>
            </a:pPr>
            <a:r>
              <a:rPr lang="en-US" sz="1100" dirty="0">
                <a:solidFill>
                  <a:srgbClr val="8A9299"/>
                </a:solidFill>
                <a:latin typeface="Calibri" pitchFamily="34" charset="0"/>
                <a:ea typeface="Calibri" pitchFamily="34" charset="-122"/>
                <a:cs typeface="Calibri" pitchFamily="34" charset="-120"/>
              </a:rPr>
              <a:t>cost of is_prime(k) grows with √k</a:t>
            </a:r>
            <a:endParaRPr lang="en-US" sz="1100" dirty="0"/>
          </a:p>
        </p:txBody>
      </p:sp>
      <p:sp>
        <p:nvSpPr>
          <p:cNvPr id="44" name="Text 42"/>
          <p:cNvSpPr/>
          <p:nvPr/>
        </p:nvSpPr>
        <p:spPr>
          <a:xfrm>
            <a:off x="8229600" y="1371600"/>
            <a:ext cx="3383280" cy="3291840"/>
          </a:xfrm>
          <a:prstGeom prst="rect">
            <a:avLst/>
          </a:prstGeom>
          <a:noFill/>
          <a:ln/>
        </p:spPr>
        <p:txBody>
          <a:bodyPr wrap="square" lIns="0" tIns="0" rIns="0" bIns="0" rtlCol="0" anchor="ctr"/>
          <a:lstStyle/>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Thread t takes k = 3 + 2t and strides by 2 × num_threads</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Even numbers are skipped entirely; k = 2 is handled once in main</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No lock is needed: results[k] is indexed by the value being tested, so two threads can never write to the same slot</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One sequential pass then compacts results[] into the sorted list</a:t>
            </a:r>
            <a:endParaRPr lang="en-US" sz="1300" dirty="0"/>
          </a:p>
        </p:txBody>
      </p:sp>
      <p:sp>
        <p:nvSpPr>
          <p:cNvPr id="45" name="Text 43"/>
          <p:cNvSpPr/>
          <p:nvPr/>
        </p:nvSpPr>
        <p:spPr>
          <a:xfrm>
            <a:off x="548640" y="489204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task3.c uses schedule(static, 1), which is the same cyclic assignment. Both parallel versions therefore share one partitioning strategy, so the POSIX Threads versus OpenMP comparison isolates the API instead of confounding it with the work distribution.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POSIX Threads against the serial baseline</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Graphs 1 and 2  ·  increasing problem size, 8 threads</a:t>
            </a:r>
            <a:endParaRPr lang="en-US" sz="1300" dirty="0"/>
          </a:p>
        </p:txBody>
      </p:sp>
      <p:pic>
        <p:nvPicPr>
          <p:cNvPr id="6" name="Image 0" descr="C:/Users/hrt_i/Monash/Fit3143/fit3143-lab1/graphs/graph1_runtime_vs_n_pthread.png">    </p:cNvPr>
          <p:cNvPicPr>
            <a:picLocks noChangeAspect="1"/>
          </p:cNvPicPr>
          <p:nvPr/>
        </p:nvPicPr>
        <p:blipFill>
          <a:blip r:embed="rId1"/>
          <a:stretch>
            <a:fillRect/>
          </a:stretch>
        </p:blipFill>
        <p:spPr>
          <a:xfrm>
            <a:off x="548640" y="1298448"/>
            <a:ext cx="5440680" cy="3401568"/>
          </a:xfrm>
          <a:prstGeom prst="rect">
            <a:avLst/>
          </a:prstGeom>
        </p:spPr>
      </p:pic>
      <p:pic>
        <p:nvPicPr>
          <p:cNvPr id="7" name="Image 1" descr="C:/Users/hrt_i/Monash/Fit3143/fit3143-lab1/graphs/graph2_speedup_vs_n_pthread.png">    </p:cNvPr>
          <p:cNvPicPr>
            <a:picLocks noChangeAspect="1"/>
          </p:cNvPicPr>
          <p:nvPr/>
        </p:nvPicPr>
        <p:blipFill>
          <a:blip r:embed="rId2"/>
          <a:stretch>
            <a:fillRect/>
          </a:stretch>
        </p:blipFill>
        <p:spPr>
          <a:xfrm>
            <a:off x="6172200" y="1298448"/>
            <a:ext cx="5440680" cy="3401568"/>
          </a:xfrm>
          <a:prstGeom prst="rect">
            <a:avLst/>
          </a:prstGeom>
        </p:spPr>
      </p:pic>
      <p:sp>
        <p:nvSpPr>
          <p:cNvPr id="8" name="Text 4"/>
          <p:cNvSpPr/>
          <p:nvPr/>
        </p:nvSpPr>
        <p:spPr>
          <a:xfrm>
            <a:off x="548640" y="489204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Speed-up is below 1 for small n — thread creation and the sequential compaction cost more than they save. Break-even falls at n ≈ 68,000; the curve then climbs to a peak of 5.03×, which exceeds the four physical cores because SMT contributes roughly a further 20%.</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Scaling with thread count</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Graphs 3 and 4  ·  n fixed at 10,000,000</a:t>
            </a:r>
            <a:endParaRPr lang="en-US" sz="1300" dirty="0"/>
          </a:p>
        </p:txBody>
      </p:sp>
      <p:pic>
        <p:nvPicPr>
          <p:cNvPr id="6" name="Image 0" descr="C:/Users/hrt_i/Monash/Fit3143/fit3143-lab1/graphs/graph3_runtime_vs_threads_pthread.png">    </p:cNvPr>
          <p:cNvPicPr>
            <a:picLocks noChangeAspect="1"/>
          </p:cNvPicPr>
          <p:nvPr/>
        </p:nvPicPr>
        <p:blipFill>
          <a:blip r:embed="rId1"/>
          <a:stretch>
            <a:fillRect/>
          </a:stretch>
        </p:blipFill>
        <p:spPr>
          <a:xfrm>
            <a:off x="548640" y="1298448"/>
            <a:ext cx="5440680" cy="3401568"/>
          </a:xfrm>
          <a:prstGeom prst="rect">
            <a:avLst/>
          </a:prstGeom>
        </p:spPr>
      </p:pic>
      <p:pic>
        <p:nvPicPr>
          <p:cNvPr id="7" name="Image 1" descr="C:/Users/hrt_i/Monash/Fit3143/fit3143-lab1/graphs/graph4_speedup_vs_threads_pthread.png">    </p:cNvPr>
          <p:cNvPicPr>
            <a:picLocks noChangeAspect="1"/>
          </p:cNvPicPr>
          <p:nvPr/>
        </p:nvPicPr>
        <p:blipFill>
          <a:blip r:embed="rId2"/>
          <a:stretch>
            <a:fillRect/>
          </a:stretch>
        </p:blipFill>
        <p:spPr>
          <a:xfrm>
            <a:off x="6172200" y="1298448"/>
            <a:ext cx="5440680" cy="3401568"/>
          </a:xfrm>
          <a:prstGeom prst="rect">
            <a:avLst/>
          </a:prstGeom>
        </p:spPr>
      </p:pic>
      <p:sp>
        <p:nvSpPr>
          <p:cNvPr id="8" name="Text 4"/>
          <p:cNvSpPr/>
          <p:nvPr/>
        </p:nvSpPr>
        <p:spPr>
          <a:xfrm>
            <a:off x="548640" y="489204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The curve is a staircase rather than a smooth ramp: it jumps at 3→4 and 6→7 but stalls between 4 and 6. Past 8 threads every logical CPU is in use and the curve flattens — oversubscription as far as 32 threads costs almost nothing, because the workload is compute-bound.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What the partitioning change bought</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Same code, same machine — only the workload distribution differs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486400" cy="914400"/>
        </p:xfrm>
        <a:graphic>
          <a:graphicData uri="http://schemas.openxmlformats.org/drawingml/2006/table">
            <a:tbl>
              <a:tblPr/>
              <a:tblGrid>
                <a:gridCol w="1554480"/>
                <a:gridCol w="1280160"/>
                <a:gridCol w="1188720"/>
                <a:gridCol w="1463040"/>
              </a:tblGrid>
              <a:tr h="384048">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contiguous</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cyclic</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gain</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6,800,000</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3.83×</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4.52×</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+18.1%</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22,000,000</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3.89×</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4.77×</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+22.8%</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38,000,000</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4.17×</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5.03×</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+20.7%</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50,000,000</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4.04×</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4.88×</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+20.8%</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3794760"/>
            <a:ext cx="5486400" cy="274320"/>
          </a:xfrm>
          <a:prstGeom prst="rect">
            <a:avLst/>
          </a:prstGeom>
          <a:noFill/>
          <a:ln/>
        </p:spPr>
        <p:txBody>
          <a:bodyPr wrap="square" lIns="0" tIns="0" rIns="0" bIns="0" rtlCol="0" anchor="ctr"/>
          <a:lstStyle/>
          <a:p>
            <a:pPr indent="0" marL="0">
              <a:buNone/>
            </a:pPr>
            <a:r>
              <a:rPr lang="en-US" sz="1100" dirty="0">
                <a:solidFill>
                  <a:srgbClr val="8A9299"/>
                </a:solidFill>
                <a:latin typeface="Calibri" pitchFamily="34" charset="0"/>
                <a:ea typeface="Calibri" pitchFamily="34" charset="-122"/>
                <a:cs typeface="Calibri" pitchFamily="34" charset="-120"/>
              </a:rPr>
              <a:t>Speed-up at 8 threads, best of three runs, measured across all 30 values of n</a:t>
            </a:r>
            <a:endParaRPr lang="en-US" sz="1100" dirty="0"/>
          </a:p>
        </p:txBody>
      </p:sp>
      <p:sp>
        <p:nvSpPr>
          <p:cNvPr id="8" name="Text 5"/>
          <p:cNvSpPr/>
          <p:nvPr/>
        </p:nvSpPr>
        <p:spPr>
          <a:xfrm>
            <a:off x="6492240" y="1371600"/>
            <a:ext cx="5120640" cy="329184"/>
          </a:xfrm>
          <a:prstGeom prst="rect">
            <a:avLst/>
          </a:prstGeom>
          <a:noFill/>
          <a:ln/>
        </p:spPr>
        <p:txBody>
          <a:bodyPr wrap="square" lIns="0" tIns="0" rIns="0" bIns="0" rtlCol="0" anchor="ctr"/>
          <a:lstStyle/>
          <a:p>
            <a:pPr indent="0" marL="0">
              <a:buNone/>
            </a:pPr>
            <a:r>
              <a:rPr lang="en-US" sz="1600" b="1" dirty="0">
                <a:solidFill>
                  <a:srgbClr val="1A2226"/>
                </a:solidFill>
                <a:latin typeface="Calibri" pitchFamily="34" charset="0"/>
                <a:ea typeface="Calibri" pitchFamily="34" charset="-122"/>
                <a:cs typeface="Calibri" pitchFamily="34" charset="-120"/>
              </a:rPr>
              <a:t>Why the staircase: thread placement</a:t>
            </a:r>
            <a:endParaRPr lang="en-US" sz="1600" dirty="0"/>
          </a:p>
        </p:txBody>
      </p:sp>
      <p:sp>
        <p:nvSpPr>
          <p:cNvPr id="9" name="Text 6"/>
          <p:cNvSpPr/>
          <p:nvPr/>
        </p:nvSpPr>
        <p:spPr>
          <a:xfrm>
            <a:off x="6492240" y="1783080"/>
            <a:ext cx="5120640" cy="2194560"/>
          </a:xfrm>
          <a:prstGeom prst="rect">
            <a:avLst/>
          </a:prstGeom>
          <a:noFill/>
          <a:ln/>
        </p:spPr>
        <p:txBody>
          <a:bodyPr wrap="square" lIns="0" tIns="0" rIns="0" bIns="0" rtlCol="0" anchor="ctr"/>
          <a:lstStyle/>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The OS does not guarantee that threads land on distinct physical cores</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Pinned to 2 physical cores (SMT siblings):  1.210 s</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Pinned to 4 physical cores:  1.069 s</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The same four threads, 13.3% apart — SMT siblings share the core's execution units, above all the integer divider</a:t>
            </a:r>
            <a:endParaRPr lang="en-US" sz="1300" dirty="0"/>
          </a:p>
        </p:txBody>
      </p:sp>
      <p:sp>
        <p:nvSpPr>
          <p:cNvPr id="10" name="Shape 7"/>
          <p:cNvSpPr/>
          <p:nvPr/>
        </p:nvSpPr>
        <p:spPr>
          <a:xfrm>
            <a:off x="6492240" y="4206240"/>
            <a:ext cx="5120640" cy="603504"/>
          </a:xfrm>
          <a:prstGeom prst="roundRect">
            <a:avLst>
              <a:gd name="adj" fmla="val 9091"/>
            </a:avLst>
          </a:prstGeom>
          <a:solidFill>
            <a:srgbClr val="F2F4F5"/>
          </a:solidFill>
          <a:ln w="12700">
            <a:solidFill>
              <a:srgbClr val="F2F4F5"/>
            </a:solidFill>
            <a:prstDash val="solid"/>
          </a:ln>
        </p:spPr>
      </p:sp>
      <p:sp>
        <p:nvSpPr>
          <p:cNvPr id="11" name="Text 8"/>
          <p:cNvSpPr/>
          <p:nvPr/>
        </p:nvSpPr>
        <p:spPr>
          <a:xfrm>
            <a:off x="6629400" y="4315968"/>
            <a:ext cx="4846320" cy="384048"/>
          </a:xfrm>
          <a:prstGeom prst="rect">
            <a:avLst/>
          </a:prstGeom>
          <a:noFill/>
          <a:ln/>
        </p:spPr>
        <p:txBody>
          <a:bodyPr wrap="square" lIns="0" tIns="0" rIns="0" bIns="0" rtlCol="0" anchor="ctr"/>
          <a:lstStyle/>
          <a:p>
            <a:pPr indent="0" marL="0">
              <a:buNone/>
            </a:pPr>
            <a:r>
              <a:rPr lang="en-US" sz="1100" dirty="0">
                <a:solidFill>
                  <a:srgbClr val="52616B"/>
                </a:solidFill>
                <a:latin typeface="Consolas" pitchFamily="34" charset="0"/>
                <a:ea typeface="Consolas" pitchFamily="34" charset="-122"/>
                <a:cs typeface="Consolas" pitchFamily="34" charset="-120"/>
              </a:rPr>
              <a:t>taskset -c 0,1,2,3   vs   taskset -c 0,2,4,6</a:t>
            </a:r>
            <a:endParaRPr lang="en-US" sz="1100" dirty="0"/>
          </a:p>
        </p:txBody>
      </p:sp>
      <p:sp>
        <p:nvSpPr>
          <p:cNvPr id="12" name="Text 9"/>
          <p:cNvSpPr/>
          <p:nvPr/>
        </p:nvSpPr>
        <p:spPr>
          <a:xfrm>
            <a:off x="548640" y="498348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Both findings say the same thing from different directions: on this workload, which values a thread owns and where that thread runs matter more than anything else we changed. Sibling map on this CPU: logical 0-1 = core 0, 2-3 = core 1, 4-5 = core 2, 6-7 = core 3.</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OpenMP implementation</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task3.c  ·  the same partitioning, expressed as one directive</a:t>
            </a:r>
            <a:endParaRPr lang="en-US" sz="1300" dirty="0"/>
          </a:p>
        </p:txBody>
      </p:sp>
      <p:sp>
        <p:nvSpPr>
          <p:cNvPr id="6" name="Shape 4"/>
          <p:cNvSpPr/>
          <p:nvPr/>
        </p:nvSpPr>
        <p:spPr>
          <a:xfrm>
            <a:off x="548640" y="1371600"/>
            <a:ext cx="5577840" cy="1005840"/>
          </a:xfrm>
          <a:prstGeom prst="roundRect">
            <a:avLst>
              <a:gd name="adj" fmla="val 5455"/>
            </a:avLst>
          </a:prstGeom>
          <a:solidFill>
            <a:srgbClr val="1F2A30"/>
          </a:solidFill>
          <a:ln w="12700">
            <a:solidFill>
              <a:srgbClr val="1F2A30"/>
            </a:solidFill>
            <a:prstDash val="solid"/>
          </a:ln>
        </p:spPr>
      </p:sp>
      <p:sp>
        <p:nvSpPr>
          <p:cNvPr id="7" name="Text 5"/>
          <p:cNvSpPr/>
          <p:nvPr/>
        </p:nvSpPr>
        <p:spPr>
          <a:xfrm>
            <a:off x="749808" y="1536192"/>
            <a:ext cx="5212080" cy="320040"/>
          </a:xfrm>
          <a:prstGeom prst="rect">
            <a:avLst/>
          </a:prstGeom>
          <a:noFill/>
          <a:ln/>
        </p:spPr>
        <p:txBody>
          <a:bodyPr wrap="square" lIns="0" tIns="0" rIns="0" bIns="0" rtlCol="0" anchor="ctr"/>
          <a:lstStyle/>
          <a:p>
            <a:pPr indent="0" marL="0">
              <a:buNone/>
            </a:pPr>
            <a:r>
              <a:rPr lang="en-US" sz="1300" dirty="0">
                <a:solidFill>
                  <a:srgbClr val="1BAF7A"/>
                </a:solidFill>
                <a:latin typeface="Consolas" pitchFamily="34" charset="0"/>
                <a:ea typeface="Consolas" pitchFamily="34" charset="-122"/>
                <a:cs typeface="Consolas" pitchFamily="34" charset="-120"/>
              </a:rPr>
              <a:t>#pragma omp parallel for schedule(static, 1)</a:t>
            </a:r>
            <a:endParaRPr lang="en-US" sz="1300" dirty="0"/>
          </a:p>
        </p:txBody>
      </p:sp>
      <p:sp>
        <p:nvSpPr>
          <p:cNvPr id="8" name="Text 6"/>
          <p:cNvSpPr/>
          <p:nvPr/>
        </p:nvSpPr>
        <p:spPr>
          <a:xfrm>
            <a:off x="749808" y="1901952"/>
            <a:ext cx="5212080" cy="365760"/>
          </a:xfrm>
          <a:prstGeom prst="rect">
            <a:avLst/>
          </a:prstGeom>
          <a:noFill/>
          <a:ln/>
        </p:spPr>
        <p:txBody>
          <a:bodyPr wrap="square" lIns="0" tIns="0" rIns="0" bIns="0" rtlCol="0" anchor="ctr"/>
          <a:lstStyle/>
          <a:p>
            <a:pPr indent="0" marL="0">
              <a:buNone/>
            </a:pPr>
            <a:r>
              <a:rPr lang="en-US" sz="1150" dirty="0">
                <a:solidFill>
                  <a:srgbClr val="9AA5AB"/>
                </a:solidFill>
                <a:latin typeface="Calibri" pitchFamily="34" charset="0"/>
                <a:ea typeface="Calibri" pitchFamily="34" charset="-122"/>
                <a:cs typeface="Calibri" pitchFamily="34" charset="-120"/>
              </a:rPr>
              <a:t>replaces about 25 lines of pthread_create, join and argument marshalling</a:t>
            </a:r>
            <a:endParaRPr lang="en-US" sz="1150" dirty="0"/>
          </a:p>
        </p:txBody>
      </p:sp>
      <p:sp>
        <p:nvSpPr>
          <p:cNvPr id="9" name="Text 7"/>
          <p:cNvSpPr/>
          <p:nvPr/>
        </p:nvSpPr>
        <p:spPr>
          <a:xfrm>
            <a:off x="548640" y="2560320"/>
            <a:ext cx="5577840" cy="1828800"/>
          </a:xfrm>
          <a:prstGeom prst="rect">
            <a:avLst/>
          </a:prstGeom>
          <a:noFill/>
          <a:ln/>
        </p:spPr>
        <p:txBody>
          <a:bodyPr wrap="square" lIns="0" tIns="0" rIns="0" bIns="0" rtlCol="0" anchor="ctr"/>
          <a:lstStyle/>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Chunk size 1 makes the static assignment cyclic — identical to the task2 scheme</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static is computed by formula, so there is no runtime scheduling overhead at all</a:t>
            </a:r>
            <a:endParaRPr lang="en-US" sz="1300" dirty="0"/>
          </a:p>
          <a:p>
            <a:pPr marL="342900" indent="-342900">
              <a:lnSpc>
                <a:spcPts val="2200"/>
              </a:lnSpc>
              <a:spcAft>
                <a:spcPts val="800"/>
              </a:spcAft>
              <a:buSzPct val="100000"/>
              <a:buChar char="•"/>
            </a:pPr>
            <a:r>
              <a:rPr lang="en-US" sz="1300" dirty="0">
                <a:solidFill>
                  <a:srgbClr val="52616B"/>
                </a:solidFill>
                <a:latin typeface="Calibri" pitchFamily="34" charset="0"/>
                <a:ea typeface="Calibri" pitchFamily="34" charset="-122"/>
                <a:cs typeface="Calibri" pitchFamily="34" charset="-120"/>
              </a:rPr>
              <a:t>We evaluated four schedules using schedule(runtime), five runs each</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92240" y="1417320"/>
          <a:ext cx="5120640" cy="914400"/>
        </p:xfrm>
        <a:graphic>
          <a:graphicData uri="http://schemas.openxmlformats.org/drawingml/2006/table">
            <a:tbl>
              <a:tblPr/>
              <a:tblGrid>
                <a:gridCol w="2286000"/>
                <a:gridCol w="1371600"/>
                <a:gridCol w="1463040"/>
              </a:tblGrid>
              <a:tr h="384048">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schedule</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median</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vs static,1</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static  (default chunk)</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0.6475 s</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11.5% slower</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static, 1</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52616B"/>
                          </a:solidFill>
                          <a:latin typeface="Calibri" pitchFamily="34" charset="0"/>
                          <a:ea typeface="Calibri" pitchFamily="34" charset="-122"/>
                          <a:cs typeface="Calibri" pitchFamily="34" charset="-120"/>
                        </a:rPr>
                        <a:t>0.5809 s</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AF7A"/>
                          </a:solidFill>
                          <a:latin typeface="Calibri" pitchFamily="34" charset="0"/>
                          <a:ea typeface="Calibri" pitchFamily="34" charset="-122"/>
                          <a:cs typeface="Calibri" pitchFamily="34" charset="-120"/>
                        </a:rPr>
                        <a:t>chosen</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dynamic, 1000</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0.5708 s</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1.7% faster</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guided</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0.5739 s</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2616B"/>
                          </a:solidFill>
                          <a:latin typeface="Calibri" pitchFamily="34" charset="0"/>
                          <a:ea typeface="Calibri" pitchFamily="34" charset="-122"/>
                          <a:cs typeface="Calibri" pitchFamily="34" charset="-120"/>
                        </a:rPr>
                        <a:t>1.2% faster</a:t>
                      </a:r>
                      <a:endParaRPr lang="en-US" sz="1300" dirty="0">
                        <a:latin typeface="Calibri" charset="0"/>
                        <a:ea typeface="Calibri" charset="0"/>
                        <a:cs typeface="Calibri" charset="0"/>
                      </a:endParaRPr>
                    </a:p>
                  </a:txBody>
                  <a:tcPr marL="91440" marR="91440" marT="45720" marB="45720" anchor="ctr">
                    <a:lnL w="12700" cap="flat" cmpd="sng" algn="ctr">
                      <a:solidFill>
                        <a:srgbClr val="E3E7E9"/>
                      </a:solidFill>
                      <a:prstDash val="solid"/>
                      <a:round/>
                      <a:headEnd type="none" w="med" len="med"/>
                      <a:tailEnd type="none" w="med" len="med"/>
                    </a:lnL>
                    <a:lnR w="12700" cap="flat" cmpd="sng" algn="ctr">
                      <a:solidFill>
                        <a:srgbClr val="E3E7E9"/>
                      </a:solidFill>
                      <a:prstDash val="solid"/>
                      <a:round/>
                      <a:headEnd type="none" w="med" len="med"/>
                      <a:tailEnd type="none" w="med" len="med"/>
                    </a:lnR>
                    <a:lnT w="12700" cap="flat" cmpd="sng" algn="ctr">
                      <a:solidFill>
                        <a:srgbClr val="E3E7E9"/>
                      </a:solidFill>
                      <a:prstDash val="solid"/>
                      <a:round/>
                      <a:headEnd type="none" w="med" len="med"/>
                      <a:tailEnd type="none" w="med" len="med"/>
                    </a:lnT>
                    <a:lnB w="12700" cap="flat" cmpd="sng" algn="ctr">
                      <a:solidFill>
                        <a:srgbClr val="E3E7E9"/>
                      </a:solidFill>
                      <a:prstDash val="solid"/>
                      <a:round/>
                      <a:headEnd type="none" w="med" len="med"/>
                      <a:tailEnd type="none" w="med" len="med"/>
                    </a:lnB>
                    <a:solidFill>
                      <a:srgbClr val="FFFFFF"/>
                    </a:solidFill>
                  </a:tcPr>
                </a:tc>
              </a:tr>
            </a:tbl>
          </a:graphicData>
        </a:graphic>
      </p:graphicFrame>
      <p:sp>
        <p:nvSpPr>
          <p:cNvPr id="11" name="Text 8"/>
          <p:cNvSpPr/>
          <p:nvPr/>
        </p:nvSpPr>
        <p:spPr>
          <a:xfrm>
            <a:off x="6492240" y="3822192"/>
            <a:ext cx="5120640" cy="274320"/>
          </a:xfrm>
          <a:prstGeom prst="rect">
            <a:avLst/>
          </a:prstGeom>
          <a:noFill/>
          <a:ln/>
        </p:spPr>
        <p:txBody>
          <a:bodyPr wrap="square" lIns="0" tIns="0" rIns="0" bIns="0" rtlCol="0" anchor="ctr"/>
          <a:lstStyle/>
          <a:p>
            <a:pPr indent="0" marL="0">
              <a:buNone/>
            </a:pPr>
            <a:r>
              <a:rPr lang="en-US" sz="1100" dirty="0">
                <a:solidFill>
                  <a:srgbClr val="8A9299"/>
                </a:solidFill>
                <a:latin typeface="Calibri" pitchFamily="34" charset="0"/>
                <a:ea typeface="Calibri" pitchFamily="34" charset="-122"/>
                <a:cs typeface="Calibri" pitchFamily="34" charset="-120"/>
              </a:rPr>
              <a:t>n = 10⁷, 8 threads, median of five runs</a:t>
            </a:r>
            <a:endParaRPr lang="en-US" sz="1100" dirty="0"/>
          </a:p>
        </p:txBody>
      </p:sp>
      <p:sp>
        <p:nvSpPr>
          <p:cNvPr id="12" name="Text 9"/>
          <p:cNvSpPr/>
          <p:nvPr/>
        </p:nvSpPr>
        <p:spPr>
          <a:xfrm>
            <a:off x="548640" y="438912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Only schedule(static) is meaningfully slower, and it is the contiguous assignment again — the same effect Task 2 measured by hand. The other three sit inside the 12–18% run-to-run variability, so they are indistinguishable. We kept static,1 because it matches the best measured time with zero scheduling overhead, while dynamic and guided coordinate through a shared counter at runtime.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OpenMP against the serial baseline</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Graphs 5 and 6  ·  increasing problem size, 8 threads</a:t>
            </a:r>
            <a:endParaRPr lang="en-US" sz="1300" dirty="0"/>
          </a:p>
        </p:txBody>
      </p:sp>
      <p:pic>
        <p:nvPicPr>
          <p:cNvPr id="6" name="Image 0" descr="C:/Users/hrt_i/Monash/Fit3143/fit3143-lab1/graphs/graph5_runtime_vs_n_openmp.png">    </p:cNvPr>
          <p:cNvPicPr>
            <a:picLocks noChangeAspect="1"/>
          </p:cNvPicPr>
          <p:nvPr/>
        </p:nvPicPr>
        <p:blipFill>
          <a:blip r:embed="rId1"/>
          <a:stretch>
            <a:fillRect/>
          </a:stretch>
        </p:blipFill>
        <p:spPr>
          <a:xfrm>
            <a:off x="548640" y="1298448"/>
            <a:ext cx="5440680" cy="3401568"/>
          </a:xfrm>
          <a:prstGeom prst="rect">
            <a:avLst/>
          </a:prstGeom>
        </p:spPr>
      </p:pic>
      <p:pic>
        <p:nvPicPr>
          <p:cNvPr id="7" name="Image 1" descr="C:/Users/hrt_i/Monash/Fit3143/fit3143-lab1/graphs/graph6_speedup_vs_n_openmp.png">    </p:cNvPr>
          <p:cNvPicPr>
            <a:picLocks noChangeAspect="1"/>
          </p:cNvPicPr>
          <p:nvPr/>
        </p:nvPicPr>
        <p:blipFill>
          <a:blip r:embed="rId2"/>
          <a:stretch>
            <a:fillRect/>
          </a:stretch>
        </p:blipFill>
        <p:spPr>
          <a:xfrm>
            <a:off x="6172200" y="1298448"/>
            <a:ext cx="5440680" cy="3401568"/>
          </a:xfrm>
          <a:prstGeom prst="rect">
            <a:avLst/>
          </a:prstGeom>
        </p:spPr>
      </p:pic>
      <p:sp>
        <p:nvSpPr>
          <p:cNvPr id="8" name="Text 4"/>
          <p:cNvSpPr/>
          <p:nvPr/>
        </p:nvSpPr>
        <p:spPr>
          <a:xfrm>
            <a:off x="548640" y="489204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The same shape as POSIX Threads, but break-even arrives later — around n ≈ 150,000 rather than 68,000. Below that the libgomp runtime has to build its thread pool, which is pure overhead for a program that enters one parallel region and then exits. Peak speed-up is 5.12×.</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POSIX Threads against OpenMP</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Graphs 7 and 8  ·  the direct comparison</a:t>
            </a:r>
            <a:endParaRPr lang="en-US" sz="1300" dirty="0"/>
          </a:p>
        </p:txBody>
      </p:sp>
      <p:pic>
        <p:nvPicPr>
          <p:cNvPr id="6" name="Image 0" descr="C:/Users/hrt_i/Monash/Fit3143/fit3143-lab1/graphs/graph7_runtime_vs_n_pthread_openmp.png">    </p:cNvPr>
          <p:cNvPicPr>
            <a:picLocks noChangeAspect="1"/>
          </p:cNvPicPr>
          <p:nvPr/>
        </p:nvPicPr>
        <p:blipFill>
          <a:blip r:embed="rId1"/>
          <a:stretch>
            <a:fillRect/>
          </a:stretch>
        </p:blipFill>
        <p:spPr>
          <a:xfrm>
            <a:off x="548640" y="1298448"/>
            <a:ext cx="5440680" cy="3401568"/>
          </a:xfrm>
          <a:prstGeom prst="rect">
            <a:avLst/>
          </a:prstGeom>
        </p:spPr>
      </p:pic>
      <p:pic>
        <p:nvPicPr>
          <p:cNvPr id="7" name="Image 1" descr="C:/Users/hrt_i/Monash/Fit3143/fit3143-lab1/graphs/graph8_runtime_vs_threads_pthread_openmp.png">    </p:cNvPr>
          <p:cNvPicPr>
            <a:picLocks noChangeAspect="1"/>
          </p:cNvPicPr>
          <p:nvPr/>
        </p:nvPicPr>
        <p:blipFill>
          <a:blip r:embed="rId2"/>
          <a:stretch>
            <a:fillRect/>
          </a:stretch>
        </p:blipFill>
        <p:spPr>
          <a:xfrm>
            <a:off x="6172200" y="1298448"/>
            <a:ext cx="5440680" cy="3401568"/>
          </a:xfrm>
          <a:prstGeom prst="rect">
            <a:avLst/>
          </a:prstGeom>
        </p:spPr>
      </p:pic>
      <p:sp>
        <p:nvSpPr>
          <p:cNvPr id="8" name="Text 4"/>
          <p:cNvSpPr/>
          <p:nvPr/>
        </p:nvSpPr>
        <p:spPr>
          <a:xfrm>
            <a:off x="548640" y="4892040"/>
            <a:ext cx="11064240" cy="77724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Above n ≈ 1,000,000 the two lines lie on top of each other — 4.88× against 4.94× at n = 5×10⁷, well inside measurement noise. Before we corrected the partitioning, OpenMP appeared to be 20% faster; that entire gap was the scheme, not the API. Below n ≈ 500,000 OpenMP is erratic and slower, which is its runtime start-up cost.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Why the speed-up is 4.7× and not 8×</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Three effects, each measured rather than assumed</a:t>
            </a:r>
            <a:endParaRPr lang="en-US" sz="1300" dirty="0"/>
          </a:p>
        </p:txBody>
      </p:sp>
      <p:sp>
        <p:nvSpPr>
          <p:cNvPr id="6" name="Shape 4"/>
          <p:cNvSpPr/>
          <p:nvPr/>
        </p:nvSpPr>
        <p:spPr>
          <a:xfrm>
            <a:off x="548640" y="1472184"/>
            <a:ext cx="457200" cy="457200"/>
          </a:xfrm>
          <a:prstGeom prst="ellipse">
            <a:avLst/>
          </a:prstGeom>
          <a:solidFill>
            <a:srgbClr val="EB6834"/>
          </a:solidFill>
          <a:ln/>
        </p:spPr>
      </p:sp>
      <p:sp>
        <p:nvSpPr>
          <p:cNvPr id="7" name="Text 5"/>
          <p:cNvSpPr/>
          <p:nvPr/>
        </p:nvSpPr>
        <p:spPr>
          <a:xfrm>
            <a:off x="548640" y="147218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234440" y="1417320"/>
            <a:ext cx="10241280" cy="365760"/>
          </a:xfrm>
          <a:prstGeom prst="rect">
            <a:avLst/>
          </a:prstGeom>
          <a:noFill/>
          <a:ln/>
        </p:spPr>
        <p:txBody>
          <a:bodyPr wrap="square" lIns="0" tIns="0" rIns="0" bIns="0" rtlCol="0" anchor="ctr"/>
          <a:lstStyle/>
          <a:p>
            <a:pPr indent="0" marL="0">
              <a:buNone/>
            </a:pPr>
            <a:r>
              <a:rPr lang="en-US" sz="1700" b="1" dirty="0">
                <a:solidFill>
                  <a:srgbClr val="1A2226"/>
                </a:solidFill>
                <a:latin typeface="Calibri" pitchFamily="34" charset="0"/>
                <a:ea typeface="Calibri" pitchFamily="34" charset="-122"/>
                <a:cs typeface="Calibri" pitchFamily="34" charset="-120"/>
              </a:rPr>
              <a:t>Only four physical cores</a:t>
            </a:r>
            <a:endParaRPr lang="en-US" sz="1700" dirty="0"/>
          </a:p>
        </p:txBody>
      </p:sp>
      <p:sp>
        <p:nvSpPr>
          <p:cNvPr id="9" name="Text 7"/>
          <p:cNvSpPr/>
          <p:nvPr/>
        </p:nvSpPr>
        <p:spPr>
          <a:xfrm>
            <a:off x="1234440" y="1801368"/>
            <a:ext cx="10241280" cy="86868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The other four logical CPUs are SMT siblings sharing one core's execution units — above all the integer divider that is_prime hammers. SMT adds roughly 20% on top of 4×, not another 4×.</a:t>
            </a:r>
            <a:endParaRPr lang="en-US" sz="1300" dirty="0"/>
          </a:p>
        </p:txBody>
      </p:sp>
      <p:sp>
        <p:nvSpPr>
          <p:cNvPr id="10" name="Shape 8"/>
          <p:cNvSpPr/>
          <p:nvPr/>
        </p:nvSpPr>
        <p:spPr>
          <a:xfrm>
            <a:off x="548640" y="2953512"/>
            <a:ext cx="457200" cy="457200"/>
          </a:xfrm>
          <a:prstGeom prst="ellipse">
            <a:avLst/>
          </a:prstGeom>
          <a:solidFill>
            <a:srgbClr val="2A78D6"/>
          </a:solidFill>
          <a:ln/>
        </p:spPr>
      </p:sp>
      <p:sp>
        <p:nvSpPr>
          <p:cNvPr id="11" name="Text 9"/>
          <p:cNvSpPr/>
          <p:nvPr/>
        </p:nvSpPr>
        <p:spPr>
          <a:xfrm>
            <a:off x="548640" y="29535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234440" y="2898648"/>
            <a:ext cx="10241280" cy="365760"/>
          </a:xfrm>
          <a:prstGeom prst="rect">
            <a:avLst/>
          </a:prstGeom>
          <a:noFill/>
          <a:ln/>
        </p:spPr>
        <p:txBody>
          <a:bodyPr wrap="square" lIns="0" tIns="0" rIns="0" bIns="0" rtlCol="0" anchor="ctr"/>
          <a:lstStyle/>
          <a:p>
            <a:pPr indent="0" marL="0">
              <a:buNone/>
            </a:pPr>
            <a:r>
              <a:rPr lang="en-US" sz="1700" b="1" dirty="0">
                <a:solidFill>
                  <a:srgbClr val="1A2226"/>
                </a:solidFill>
                <a:latin typeface="Calibri" pitchFamily="34" charset="0"/>
                <a:ea typeface="Calibri" pitchFamily="34" charset="-122"/>
                <a:cs typeface="Calibri" pitchFamily="34" charset="-120"/>
              </a:rPr>
              <a:t>A sequential portion remains</a:t>
            </a:r>
            <a:endParaRPr lang="en-US" sz="1700" dirty="0"/>
          </a:p>
        </p:txBody>
      </p:sp>
      <p:sp>
        <p:nvSpPr>
          <p:cNvPr id="13" name="Text 11"/>
          <p:cNvSpPr/>
          <p:nvPr/>
        </p:nvSpPr>
        <p:spPr>
          <a:xfrm>
            <a:off x="1234440" y="3282696"/>
            <a:ext cx="10241280" cy="86868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Amdahl's law. The shared results[] array is allocated and compacted into the sorted list by a single thread — an O(n) pass that does not shrink as threads are added. It is also why one thread is slower than the serial program, at 0.97×.</a:t>
            </a:r>
            <a:endParaRPr lang="en-US" sz="1300" dirty="0"/>
          </a:p>
        </p:txBody>
      </p:sp>
      <p:sp>
        <p:nvSpPr>
          <p:cNvPr id="14" name="Shape 12"/>
          <p:cNvSpPr/>
          <p:nvPr/>
        </p:nvSpPr>
        <p:spPr>
          <a:xfrm>
            <a:off x="548640" y="4434840"/>
            <a:ext cx="457200" cy="457200"/>
          </a:xfrm>
          <a:prstGeom prst="ellipse">
            <a:avLst/>
          </a:prstGeom>
          <a:solidFill>
            <a:srgbClr val="1BAF7A"/>
          </a:solidFill>
          <a:ln/>
        </p:spPr>
      </p:sp>
      <p:sp>
        <p:nvSpPr>
          <p:cNvPr id="15" name="Text 13"/>
          <p:cNvSpPr/>
          <p:nvPr/>
        </p:nvSpPr>
        <p:spPr>
          <a:xfrm>
            <a:off x="548640" y="443484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6" name="Text 14"/>
          <p:cNvSpPr/>
          <p:nvPr/>
        </p:nvSpPr>
        <p:spPr>
          <a:xfrm>
            <a:off x="1234440" y="4379976"/>
            <a:ext cx="10241280" cy="365760"/>
          </a:xfrm>
          <a:prstGeom prst="rect">
            <a:avLst/>
          </a:prstGeom>
          <a:noFill/>
          <a:ln/>
        </p:spPr>
        <p:txBody>
          <a:bodyPr wrap="square" lIns="0" tIns="0" rIns="0" bIns="0" rtlCol="0" anchor="ctr"/>
          <a:lstStyle/>
          <a:p>
            <a:pPr indent="0" marL="0">
              <a:buNone/>
            </a:pPr>
            <a:r>
              <a:rPr lang="en-US" sz="1700" b="1" dirty="0">
                <a:solidFill>
                  <a:srgbClr val="1A2226"/>
                </a:solidFill>
                <a:latin typeface="Calibri" pitchFamily="34" charset="0"/>
                <a:ea typeface="Calibri" pitchFamily="34" charset="-122"/>
                <a:cs typeface="Calibri" pitchFamily="34" charset="-120"/>
              </a:rPr>
              <a:t>Thread creation and placement</a:t>
            </a:r>
            <a:endParaRPr lang="en-US" sz="1700" dirty="0"/>
          </a:p>
        </p:txBody>
      </p:sp>
      <p:sp>
        <p:nvSpPr>
          <p:cNvPr id="17" name="Text 15"/>
          <p:cNvSpPr/>
          <p:nvPr/>
        </p:nvSpPr>
        <p:spPr>
          <a:xfrm>
            <a:off x="1234440" y="4764024"/>
            <a:ext cx="10241280" cy="868680"/>
          </a:xfrm>
          <a:prstGeom prst="rect">
            <a:avLst/>
          </a:prstGeom>
          <a:noFill/>
          <a:ln/>
        </p:spPr>
        <p:txBody>
          <a:bodyPr wrap="square" lIns="0" tIns="0" rIns="0" bIns="0" rtlCol="0" anchor="t"/>
          <a:lstStyle/>
          <a:p>
            <a:pPr indent="0" marL="0">
              <a:buNone/>
            </a:pPr>
            <a:r>
              <a:rPr lang="en-US" sz="1300" dirty="0">
                <a:solidFill>
                  <a:srgbClr val="52616B"/>
                </a:solidFill>
                <a:latin typeface="Calibri" pitchFamily="34" charset="0"/>
                <a:ea typeface="Calibri" pitchFamily="34" charset="-122"/>
                <a:cs typeface="Calibri" pitchFamily="34" charset="-120"/>
              </a:rPr>
              <a:t>pthread_create and join sit inside the timed region, and the scheduler does not spread threads across distinct physical cores — measured at 13.3%.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63238"/>
        </a:solidFill>
      </p:bgPr>
    </p:bg>
    <p:spTree>
      <p:nvGrpSpPr>
        <p:cNvPr id="1" name=""/>
        <p:cNvGrpSpPr/>
        <p:nvPr/>
      </p:nvGrpSpPr>
      <p:grpSpPr>
        <a:xfrm>
          <a:off x="0" y="0"/>
          <a:ext cx="0" cy="0"/>
          <a:chOff x="0" y="0"/>
          <a:chExt cx="0" cy="0"/>
        </a:xfrm>
      </p:grpSpPr>
      <p:sp>
        <p:nvSpPr>
          <p:cNvPr id="2" name="Text 0"/>
          <p:cNvSpPr/>
          <p:nvPr/>
        </p:nvSpPr>
        <p:spPr>
          <a:xfrm>
            <a:off x="548640" y="502920"/>
            <a:ext cx="1106424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3" name="Shape 1"/>
          <p:cNvSpPr/>
          <p:nvPr/>
        </p:nvSpPr>
        <p:spPr>
          <a:xfrm>
            <a:off x="548640" y="1481328"/>
            <a:ext cx="310896" cy="310896"/>
          </a:xfrm>
          <a:prstGeom prst="ellipse">
            <a:avLst/>
          </a:prstGeom>
          <a:solidFill>
            <a:srgbClr val="EB6834"/>
          </a:solidFill>
          <a:ln/>
        </p:spPr>
      </p:sp>
      <p:sp>
        <p:nvSpPr>
          <p:cNvPr id="4" name="Text 2"/>
          <p:cNvSpPr/>
          <p:nvPr/>
        </p:nvSpPr>
        <p:spPr>
          <a:xfrm>
            <a:off x="1005840" y="141732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What we found</a:t>
            </a:r>
            <a:endParaRPr lang="en-US" sz="1800" dirty="0"/>
          </a:p>
        </p:txBody>
      </p:sp>
      <p:sp>
        <p:nvSpPr>
          <p:cNvPr id="5" name="Text 3"/>
          <p:cNvSpPr/>
          <p:nvPr/>
        </p:nvSpPr>
        <p:spPr>
          <a:xfrm>
            <a:off x="548640" y="2011680"/>
            <a:ext cx="3474720" cy="3291840"/>
          </a:xfrm>
          <a:prstGeom prst="rect">
            <a:avLst/>
          </a:prstGeom>
          <a:noFill/>
          <a:ln/>
        </p:spPr>
        <p:txBody>
          <a:bodyPr wrap="square" lIns="0" tIns="0" rIns="0" bIns="0" rtlCol="0" anchor="ctr"/>
          <a:lstStyle/>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Optimising the algorithm bought 1,090×; parallelising it bought a further 5×</a:t>
            </a:r>
            <a:endParaRPr lang="en-US" sz="1300" dirty="0"/>
          </a:p>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Cyclic partitioning beat contiguous blocks by 18–23% at large n</a:t>
            </a:r>
            <a:endParaRPr lang="en-US" sz="1300" dirty="0"/>
          </a:p>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POSIX Threads and OpenMP are equal once the partitioning is equal</a:t>
            </a:r>
            <a:endParaRPr lang="en-US" sz="1300" dirty="0"/>
          </a:p>
        </p:txBody>
      </p:sp>
      <p:sp>
        <p:nvSpPr>
          <p:cNvPr id="6" name="Shape 4"/>
          <p:cNvSpPr/>
          <p:nvPr/>
        </p:nvSpPr>
        <p:spPr>
          <a:xfrm>
            <a:off x="4297680" y="1481328"/>
            <a:ext cx="310896" cy="310896"/>
          </a:xfrm>
          <a:prstGeom prst="ellipse">
            <a:avLst/>
          </a:prstGeom>
          <a:solidFill>
            <a:srgbClr val="2A78D6"/>
          </a:solidFill>
          <a:ln/>
        </p:spPr>
      </p:sp>
      <p:sp>
        <p:nvSpPr>
          <p:cNvPr id="7" name="Text 5"/>
          <p:cNvSpPr/>
          <p:nvPr/>
        </p:nvSpPr>
        <p:spPr>
          <a:xfrm>
            <a:off x="4754880" y="141732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Limitations</a:t>
            </a:r>
            <a:endParaRPr lang="en-US" sz="1800" dirty="0"/>
          </a:p>
        </p:txBody>
      </p:sp>
      <p:sp>
        <p:nvSpPr>
          <p:cNvPr id="8" name="Text 6"/>
          <p:cNvSpPr/>
          <p:nvPr/>
        </p:nvSpPr>
        <p:spPr>
          <a:xfrm>
            <a:off x="4297680" y="2011680"/>
            <a:ext cx="3474720" cy="3291840"/>
          </a:xfrm>
          <a:prstGeom prst="rect">
            <a:avLst/>
          </a:prstGeom>
          <a:noFill/>
          <a:ln/>
        </p:spPr>
        <p:txBody>
          <a:bodyPr wrap="square" lIns="0" tIns="0" rIns="0" bIns="0" rtlCol="0" anchor="ctr"/>
          <a:lstStyle/>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The shared results[] array forces an O(n) sequential compaction that caps the speed-up</a:t>
            </a:r>
            <a:endParaRPr lang="en-US" sz="1300" dirty="0"/>
          </a:p>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One machine, one architecture — a homogeneous 4-core CPU with SMT</a:t>
            </a:r>
            <a:endParaRPr lang="en-US" sz="1300" dirty="0"/>
          </a:p>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Parallel runs vary by up to 22% between repetitions</a:t>
            </a:r>
            <a:endParaRPr lang="en-US" sz="1300" dirty="0"/>
          </a:p>
        </p:txBody>
      </p:sp>
      <p:sp>
        <p:nvSpPr>
          <p:cNvPr id="9" name="Shape 7"/>
          <p:cNvSpPr/>
          <p:nvPr/>
        </p:nvSpPr>
        <p:spPr>
          <a:xfrm>
            <a:off x="8046720" y="1481328"/>
            <a:ext cx="310896" cy="310896"/>
          </a:xfrm>
          <a:prstGeom prst="ellipse">
            <a:avLst/>
          </a:prstGeom>
          <a:solidFill>
            <a:srgbClr val="1BAF7A"/>
          </a:solidFill>
          <a:ln/>
        </p:spPr>
      </p:sp>
      <p:sp>
        <p:nvSpPr>
          <p:cNvPr id="10" name="Text 8"/>
          <p:cNvSpPr/>
          <p:nvPr/>
        </p:nvSpPr>
        <p:spPr>
          <a:xfrm>
            <a:off x="8503920" y="141732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Future work</a:t>
            </a:r>
            <a:endParaRPr lang="en-US" sz="1800" dirty="0"/>
          </a:p>
        </p:txBody>
      </p:sp>
      <p:sp>
        <p:nvSpPr>
          <p:cNvPr id="11" name="Text 9"/>
          <p:cNvSpPr/>
          <p:nvPr/>
        </p:nvSpPr>
        <p:spPr>
          <a:xfrm>
            <a:off x="8046720" y="2011680"/>
            <a:ext cx="3474720" cy="3291840"/>
          </a:xfrm>
          <a:prstGeom prst="rect">
            <a:avLst/>
          </a:prstGeom>
          <a:noFill/>
          <a:ln/>
        </p:spPr>
        <p:txBody>
          <a:bodyPr wrap="square" lIns="0" tIns="0" rIns="0" bIns="0" rtlCol="0" anchor="ctr"/>
          <a:lstStyle/>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Per-thread buffers merged at the end would cut the sequential pass to O(π(n))</a:t>
            </a:r>
            <a:endParaRPr lang="en-US" sz="1300" dirty="0"/>
          </a:p>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Pin threads to physical cores and re-measure the staircase</a:t>
            </a:r>
            <a:endParaRPr lang="en-US" sz="1300" dirty="0"/>
          </a:p>
          <a:p>
            <a:pPr marL="342900" indent="-342900">
              <a:lnSpc>
                <a:spcPts val="2100"/>
              </a:lnSpc>
              <a:spcAft>
                <a:spcPts val="1200"/>
              </a:spcAft>
              <a:buSzPct val="100000"/>
              <a:buChar char="•"/>
            </a:pPr>
            <a:r>
              <a:rPr lang="en-US" sz="1300" dirty="0">
                <a:solidFill>
                  <a:srgbClr val="C6CDD1"/>
                </a:solidFill>
                <a:latin typeface="Calibri" pitchFamily="34" charset="0"/>
                <a:ea typeface="Calibri" pitchFamily="34" charset="-122"/>
                <a:cs typeface="Calibri" pitchFamily="34" charset="-120"/>
              </a:rPr>
              <a:t>Repeat on a hybrid CPU, where dynamic scheduling should finally pay for itself</a:t>
            </a:r>
            <a:endParaRPr lang="en-US" sz="1300" dirty="0"/>
          </a:p>
        </p:txBody>
      </p:sp>
      <p:sp>
        <p:nvSpPr>
          <p:cNvPr id="12" name="Text 10"/>
          <p:cNvSpPr/>
          <p:nvPr/>
        </p:nvSpPr>
        <p:spPr>
          <a:xfrm>
            <a:off x="548640" y="5669280"/>
            <a:ext cx="11064240" cy="548640"/>
          </a:xfrm>
          <a:prstGeom prst="rect">
            <a:avLst/>
          </a:prstGeom>
          <a:noFill/>
          <a:ln/>
        </p:spPr>
        <p:txBody>
          <a:bodyPr wrap="square" lIns="0" tIns="0" rIns="0" bIns="0" rtlCol="0" anchor="ctr"/>
          <a:lstStyle/>
          <a:p>
            <a:pPr indent="0" marL="0">
              <a:buNone/>
            </a:pPr>
            <a:r>
              <a:rPr lang="en-US" sz="1500" b="1" dirty="0">
                <a:solidFill>
                  <a:srgbClr val="EB6834"/>
                </a:solidFill>
                <a:latin typeface="Calibri" pitchFamily="34" charset="0"/>
                <a:ea typeface="Calibri" pitchFamily="34" charset="-122"/>
                <a:cs typeface="Calibri" pitchFamily="34" charset="-120"/>
              </a:rPr>
              <a:t>Optimise before you parallelise — a perfectly parallelised naive implementation would still have been 360× slower than the optimised serial one.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3238"/>
        </a:solidFill>
      </p:bgPr>
    </p:bg>
    <p:spTree>
      <p:nvGrpSpPr>
        <p:cNvPr id="1" name=""/>
        <p:cNvGrpSpPr/>
        <p:nvPr/>
      </p:nvGrpSpPr>
      <p:grpSpPr>
        <a:xfrm>
          <a:off x="0" y="0"/>
          <a:ext cx="0" cy="0"/>
          <a:chOff x="0" y="0"/>
          <a:chExt cx="0" cy="0"/>
        </a:xfrm>
      </p:grpSpPr>
      <p:sp>
        <p:nvSpPr>
          <p:cNvPr id="2" name="Text 0"/>
          <p:cNvSpPr/>
          <p:nvPr/>
        </p:nvSpPr>
        <p:spPr>
          <a:xfrm>
            <a:off x="548640" y="2651760"/>
            <a:ext cx="1106424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Questions</a:t>
            </a:r>
            <a:endParaRPr lang="en-US" sz="4600" dirty="0"/>
          </a:p>
        </p:txBody>
      </p:sp>
      <p:sp>
        <p:nvSpPr>
          <p:cNvPr id="3" name="Text 1"/>
          <p:cNvSpPr/>
          <p:nvPr/>
        </p:nvSpPr>
        <p:spPr>
          <a:xfrm>
            <a:off x="548640" y="3657600"/>
            <a:ext cx="11064240" cy="365760"/>
          </a:xfrm>
          <a:prstGeom prst="rect">
            <a:avLst/>
          </a:prstGeom>
          <a:noFill/>
          <a:ln/>
        </p:spPr>
        <p:txBody>
          <a:bodyPr wrap="square" lIns="0" tIns="0" rIns="0" bIns="0" rtlCol="0" anchor="ctr"/>
          <a:lstStyle/>
          <a:p>
            <a:pPr indent="0" marL="0">
              <a:buNone/>
            </a:pPr>
            <a:r>
              <a:rPr lang="en-US" sz="1400" dirty="0">
                <a:solidFill>
                  <a:srgbClr val="EB6834"/>
                </a:solidFill>
                <a:latin typeface="Calibri" pitchFamily="34" charset="0"/>
                <a:ea typeface="Calibri" pitchFamily="34" charset="-122"/>
                <a:cs typeface="Calibri" pitchFamily="34" charset="-120"/>
              </a:rPr>
              <a:t>Code, measurement data and all nine graphs:  github.com/Haruto03/fit3143-lab1</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Appendix — how the measurements were made</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Not presented; included for reference</a:t>
            </a:r>
            <a:endParaRPr lang="en-US" sz="1300" dirty="0"/>
          </a:p>
        </p:txBody>
      </p:sp>
      <p:sp>
        <p:nvSpPr>
          <p:cNvPr id="6" name="Text 4"/>
          <p:cNvSpPr/>
          <p:nvPr/>
        </p:nvSpPr>
        <p:spPr>
          <a:xfrm>
            <a:off x="548640" y="1371600"/>
            <a:ext cx="11064240" cy="4206240"/>
          </a:xfrm>
          <a:prstGeom prst="rect">
            <a:avLst/>
          </a:prstGeom>
          <a:noFill/>
          <a:ln/>
        </p:spPr>
        <p:txBody>
          <a:bodyPr wrap="square" lIns="0" tIns="0" rIns="0" bIns="0" rtlCol="0" anchor="ctr"/>
          <a:lstStyle/>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benchmark.sh runs about 350 measurements automatically and records every one to results.csv</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Experiment A: 30 values of n from 10,000 to 50,000,000, all three programs, 8 threads, three repetitions each</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Experiment B: n fixed at 10,000,000, thread counts 1 to 8, then 10, 12, 16, 24 and 32, three repetitions each</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summarize.sh reports the best of the repetitions. Parallel runs vary by up to 22% between repetitions, against 4% for the serial run, because thread placement is decided afresh each time — the mean produced visible artefacts in the speed-up curve</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Correctness: every run records how many primes it found, and the script checks that all three programs agree at every n. They do. Output files were also compared directly with diff against the serial version</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All three programs share a byte-for-byte identical is_prime, so the comparisons isolate parallelisation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EB6834"/>
          </a:solidFill>
          <a:ln/>
        </p:spPr>
      </p:sp>
      <p:sp>
        <p:nvSpPr>
          <p:cNvPr id="3" name="Text 1"/>
          <p:cNvSpPr/>
          <p:nvPr/>
        </p:nvSpPr>
        <p:spPr>
          <a:xfrm>
            <a:off x="548640" y="38404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4" name="Text 2"/>
          <p:cNvSpPr/>
          <p:nvPr/>
        </p:nvSpPr>
        <p:spPr>
          <a:xfrm>
            <a:off x="1325880" y="347472"/>
            <a:ext cx="10287000" cy="457200"/>
          </a:xfrm>
          <a:prstGeom prst="rect">
            <a:avLst/>
          </a:prstGeom>
          <a:noFill/>
          <a:ln/>
        </p:spPr>
        <p:txBody>
          <a:bodyPr wrap="square" lIns="0" tIns="0" rIns="0" bIns="0" rtlCol="0" anchor="ctr"/>
          <a:lstStyle/>
          <a:p>
            <a:pPr indent="0" marL="0">
              <a:buNone/>
            </a:pPr>
            <a:r>
              <a:rPr lang="en-US" sz="3000" b="1" dirty="0">
                <a:solidFill>
                  <a:srgbClr val="1A2226"/>
                </a:solidFill>
                <a:latin typeface="Calibri" pitchFamily="34" charset="0"/>
                <a:ea typeface="Calibri" pitchFamily="34" charset="-122"/>
                <a:cs typeface="Calibri" pitchFamily="34" charset="-120"/>
              </a:rPr>
              <a:t>Appendix — declaration of AI use</a:t>
            </a:r>
            <a:endParaRPr lang="en-US" sz="3000" dirty="0"/>
          </a:p>
        </p:txBody>
      </p:sp>
      <p:sp>
        <p:nvSpPr>
          <p:cNvPr id="5" name="Text 3"/>
          <p:cNvSpPr/>
          <p:nvPr/>
        </p:nvSpPr>
        <p:spPr>
          <a:xfrm>
            <a:off x="1325880" y="804672"/>
            <a:ext cx="10287000" cy="310896"/>
          </a:xfrm>
          <a:prstGeom prst="rect">
            <a:avLst/>
          </a:prstGeom>
          <a:noFill/>
          <a:ln/>
        </p:spPr>
        <p:txBody>
          <a:bodyPr wrap="square" lIns="0" tIns="0" rIns="0" bIns="0" rtlCol="0" anchor="ctr"/>
          <a:lstStyle/>
          <a:p>
            <a:pPr indent="0" marL="0">
              <a:buNone/>
            </a:pPr>
            <a:r>
              <a:rPr lang="en-US" sz="1300" dirty="0">
                <a:solidFill>
                  <a:srgbClr val="52616B"/>
                </a:solidFill>
                <a:latin typeface="Calibri" pitchFamily="34" charset="0"/>
                <a:ea typeface="Calibri" pitchFamily="34" charset="-122"/>
                <a:cs typeface="Calibri" pitchFamily="34" charset="-120"/>
              </a:rPr>
              <a:t>Required by the assessment specification</a:t>
            </a:r>
            <a:endParaRPr lang="en-US" sz="1300" dirty="0"/>
          </a:p>
        </p:txBody>
      </p:sp>
      <p:sp>
        <p:nvSpPr>
          <p:cNvPr id="6" name="Text 4"/>
          <p:cNvSpPr/>
          <p:nvPr/>
        </p:nvSpPr>
        <p:spPr>
          <a:xfrm>
            <a:off x="548640" y="1417320"/>
            <a:ext cx="11064240" cy="3931920"/>
          </a:xfrm>
          <a:prstGeom prst="rect">
            <a:avLst/>
          </a:prstGeom>
          <a:noFill/>
          <a:ln/>
        </p:spPr>
        <p:txBody>
          <a:bodyPr wrap="square" lIns="0" tIns="0" rIns="0" bIns="0" rtlCol="0" anchor="ctr"/>
          <a:lstStyle/>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Generative AI was used during the preparation period only. It was not used during the presentation or the Q&amp;A session.</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[Describe what it was used for — for example: reviewing the partitioning scheme, drafting the benchmark and plotting scripts, and checking the interpretation of the measurements.]</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[State which tool and which version.]</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All measurements reported in these slides were produced by running our own code on our own machine. Every number is reproducible from the repository.</a:t>
            </a:r>
            <a:endParaRPr lang="en-US" sz="1400" dirty="0"/>
          </a:p>
          <a:p>
            <a:pPr marL="342900" indent="-342900">
              <a:lnSpc>
                <a:spcPts val="2200"/>
              </a:lnSpc>
              <a:spcAft>
                <a:spcPts val="800"/>
              </a:spcAft>
              <a:buSzPct val="100000"/>
              <a:buChar char="•"/>
            </a:pPr>
            <a:r>
              <a:rPr lang="en-US" sz="1400" dirty="0">
                <a:solidFill>
                  <a:srgbClr val="52616B"/>
                </a:solidFill>
                <a:latin typeface="Calibri" pitchFamily="34" charset="0"/>
                <a:ea typeface="Calibri" pitchFamily="34" charset="-122"/>
                <a:cs typeface="Calibri" pitchFamily="34" charset="-120"/>
              </a:rPr>
              <a:t>The full prompt records are submitted separately as a PDF, as required by the specification.</a:t>
            </a:r>
            <a:endParaRPr lang="en-US" sz="1400" dirty="0"/>
          </a:p>
        </p:txBody>
      </p:sp>
      <p:sp>
        <p:nvSpPr>
          <p:cNvPr id="7" name="Shape 5"/>
          <p:cNvSpPr/>
          <p:nvPr/>
        </p:nvSpPr>
        <p:spPr>
          <a:xfrm>
            <a:off x="548640" y="5212080"/>
            <a:ext cx="11064240" cy="621792"/>
          </a:xfrm>
          <a:prstGeom prst="roundRect">
            <a:avLst>
              <a:gd name="adj" fmla="val 8824"/>
            </a:avLst>
          </a:prstGeom>
          <a:solidFill>
            <a:srgbClr val="FDF0EA"/>
          </a:solidFill>
          <a:ln w="12700">
            <a:solidFill>
              <a:srgbClr val="FDF0EA"/>
            </a:solidFill>
            <a:prstDash val="solid"/>
          </a:ln>
        </p:spPr>
      </p:sp>
      <p:sp>
        <p:nvSpPr>
          <p:cNvPr id="8" name="Text 6"/>
          <p:cNvSpPr/>
          <p:nvPr/>
        </p:nvSpPr>
        <p:spPr>
          <a:xfrm>
            <a:off x="731520" y="5321808"/>
            <a:ext cx="10698480" cy="402336"/>
          </a:xfrm>
          <a:prstGeom prst="rect">
            <a:avLst/>
          </a:prstGeom>
          <a:noFill/>
          <a:ln/>
        </p:spPr>
        <p:txBody>
          <a:bodyPr wrap="square" lIns="0" tIns="0" rIns="0" bIns="0" rtlCol="0" anchor="ctr"/>
          <a:lstStyle/>
          <a:p>
            <a:pPr indent="0" marL="0">
              <a:buNone/>
            </a:pPr>
            <a:r>
              <a:rPr lang="en-US" sz="1250" b="1" dirty="0">
                <a:solidFill>
                  <a:srgbClr val="8A3B1C"/>
                </a:solidFill>
                <a:latin typeface="Calibri" pitchFamily="34" charset="0"/>
                <a:ea typeface="Calibri" pitchFamily="34" charset="-122"/>
                <a:cs typeface="Calibri" pitchFamily="34" charset="-120"/>
              </a:rPr>
              <a:t>Complete the bracketed items before submitting, and attach the prompt-record PDF.</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Prime Numbers in Parallel</dc:title>
  <dc:subject>PptxGenJS Presentation</dc:subject>
  <dc:creator>FIT3143 Lab 1</dc:creator>
  <cp:lastModifiedBy>FIT3143 Lab 1</cp:lastModifiedBy>
  <cp:revision>1</cp:revision>
  <dcterms:created xsi:type="dcterms:W3CDTF">2026-08-18T17:29:20Z</dcterms:created>
  <dcterms:modified xsi:type="dcterms:W3CDTF">2026-08-18T17:29:20Z</dcterms:modified>
</cp:coreProperties>
</file>